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8528" y="1316736"/>
            <a:ext cx="0" cy="2816352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38528" y="1316736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38528" y="4133088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25328" y="1316736"/>
            <a:ext cx="0" cy="2816352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7856" y="1316736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77856" y="4133088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143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열시스템 디자인 프로젝트 재구성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냉열을 활용한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냉각시스템 및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부품의 설계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692640" y="51937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기반 재구성본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19488" y="5596128"/>
            <a:ext cx="1783080" cy="0"/>
          </a:xfrm>
          <a:prstGeom prst="line">
            <a:avLst/>
          </a:prstGeom>
          <a:noFill/>
          <a:ln w="12700">
            <a:solidFill>
              <a:srgbClr val="6C7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10928" y="57150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lng-idc-design-study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계산, 보고서, 발표자료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25780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344168"/>
            <a:ext cx="4965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" y="1645920"/>
            <a:ext cx="496519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1. 예비설계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설계 대상과 냉방부하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이론 최소동력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기준 R-134a 사이클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2. 냉각유체 선정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선정 기준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후보 비교와 기본안 결정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3. LNG 기화기 설계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구간 분할 해석과 핀치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형상 스캔과 최종 제원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234440"/>
            <a:ext cx="507492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34416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구성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01384" y="1645920"/>
            <a:ext cx="478231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4. 순환 배관 설계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설계 조건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거리 민감도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공급온도 민감도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5. 열역학/경제성 평가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소비동력 비교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연간 효과와 회수기간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6. 추가 고려 사항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확장 과제와 출처 체계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A11의 파트 중심 공학 발표 흐름을 따라 재편성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예비설계 - 설계 대상과 냉방부하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load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92729"/>
            <a:ext cx="5577840" cy="25353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44068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냉방부하 구성 결과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0" y="1417320"/>
            <a:ext cx="44348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건물은 100 m × 40 m × 36 m 규모 IDC로 가정하였다.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랙 발열 11 MW를 기본으로 외피, 조명, 전력손실, 보조설비를 포함했다.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냉방부하는 13.48 MW로 계산되었다.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값이 이후 기화기와 배관 설계의 기준 duty가 된다.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040880" y="4389120"/>
            <a:ext cx="1874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8896" y="4480560"/>
            <a:ext cx="1618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냉방부하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68896" y="4700016"/>
            <a:ext cx="1618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13.48 MW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68896" y="5056632"/>
            <a:ext cx="1618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결과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098280" y="4389120"/>
            <a:ext cx="1874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26296" y="4480560"/>
            <a:ext cx="1618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랙 발열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26296" y="4700016"/>
            <a:ext cx="1618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11.00 MW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226296" y="5056632"/>
            <a:ext cx="1618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기준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1155680" y="4389120"/>
            <a:ext cx="822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8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83696" y="448056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층수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283696" y="470001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83696" y="5056632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IDC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조건과 코드 기반 부하모델을 통합해 재현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예비설계 - 이론 최소동력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4069080" cy="187452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27048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조건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828800"/>
            <a:ext cx="377647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외기 조건: 35 °C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냉방부하: 13.48 MW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실내/냉수 경계조건은 과제 기준을 유지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카르노 한계를 이용해 이론 최소동력을 계산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3675888"/>
            <a:ext cx="4069080" cy="14630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785616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4087368"/>
            <a:ext cx="37764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W_min = Q_L · (T_H / T_L - 1)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절대값 자체보다 기준 사이클과의 간격이 중요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66360" y="173736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1828800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최소동력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94376" y="204825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1.22 MW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94376" y="2633472"/>
            <a:ext cx="2212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카르노 하한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66360" y="3154680"/>
            <a:ext cx="5486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값은 실제 설계가 절대적으로 넘을 수 없는 하한선이다.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이후의 R-134a 기준 시스템과 LNG 냉열 시스템은 모두 이 값보다 큰 동력을 사용한다.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비교의 초점은 절대 효율보다 얼마나 이 하한에 가까운가에 있다.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시스템과 LNG 시스템 비교의 출발점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예비설계 - 기준 R-134a 증기압축 사이클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baseline_cycle_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8151"/>
            <a:ext cx="5486400" cy="3918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71500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R-134a 기준 사이클 P-h 선도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417320"/>
            <a:ext cx="4526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시스템은 단순 R-134a 증기압축 냉동 사이클로 모델링하였다.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기준 압축기 소비동력은 4.19 MW다.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엑셀 결과 3.99 MW와 크기 수준이 일관되어 기준선으로 활용 가능하다.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기준선이 LNG 냉열 개념의 전력 절감 효과를 판단하는 앵커가 된다.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40880" y="4526280"/>
            <a:ext cx="22402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8896" y="4617720"/>
            <a:ext cx="1984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압축기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68896" y="4837176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4.19 MW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68896" y="5257800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코드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464040" y="4526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92056" y="46177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엑셀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92056" y="483717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3.99 MW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592056" y="5257800"/>
            <a:ext cx="1664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결과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시스템은 단순하되 비교 기준으로 충분히 강함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냉각유체 선정 - 선정 기준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39496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435608"/>
            <a:ext cx="5102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후보군과 필터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" y="1737360"/>
            <a:ext cx="5102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유체: R-170, R-717, R-744, R-1270, R-290, R-600a, R-1150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환경성: ODP/GWP와 규제 적합성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온도창: 120~270 K 영역에서 사용 가능성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압력 제약: 루프 압력 1 MPa 이하 유지 가능성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설계성: 기화기 성립 여부와 장거리 운반 적합성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후속성: 연간 절감 효과와 구현 리스크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325880"/>
            <a:ext cx="498348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435608"/>
            <a:ext cx="4690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재구축에서 달라진 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92824" y="1737360"/>
            <a:ext cx="46908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A11은 표와 근거로 후보를 줄여나갔고, 이번 코드는 그 과정을 재현 가능하게 만들었다.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유체도 사유와 함께 남기기 때문에 선정 논리가 더 명확하다.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선택은 단순 감이 아니라 전체 설계 문제의 결과로 이해할 수 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친환경성, 물성, 압력, 설계성, 경제성을 동시에 고려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냉각유체 선정 - 후보 비교 결과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flui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25930"/>
            <a:ext cx="5669280" cy="3543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71500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스크리닝 점수와 요구 질량유량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463040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순위는 R-717, R-290, R-600a 순으로 정리된다.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암모니아는 실현 가능한 후보 중 펌프동력이 가장 낮다.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프로판과 이소부탄도 후보로 남지만, 펌프동력과 전체 설계성에서 밀린다.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또한 현재 기준점에서는 상위 3개 유체 모두 LNG hot-end 조건 때문에 추가 warm-up 요구량이 남는다.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086600" y="4480560"/>
            <a:ext cx="13258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4616" y="4572000"/>
            <a:ext cx="1069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14616" y="4791456"/>
            <a:ext cx="1069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R-717 (Ammonia)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14616" y="5175504"/>
            <a:ext cx="1069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 kW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41080" y="4480560"/>
            <a:ext cx="13258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69096" y="4572000"/>
            <a:ext cx="1069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69096" y="4791456"/>
            <a:ext cx="1069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R-290 (Propane)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769096" y="5175504"/>
            <a:ext cx="1069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220.5 kW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195560" y="4480560"/>
            <a:ext cx="13258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23576" y="4572000"/>
            <a:ext cx="1069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323576" y="4791456"/>
            <a:ext cx="1069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R-600a (Isobutane)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323576" y="5175504"/>
            <a:ext cx="1069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235.2 kW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비교는 펌프동력, 열교환기 규모, 연간 절감까지 포함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냉각유체 선정 - 기본안 결정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50876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유체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96696" y="1728216"/>
            <a:ext cx="1892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R-717 (Ammonia)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96696" y="2267712"/>
            <a:ext cx="1892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50876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공급온도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74136" y="1728216"/>
            <a:ext cx="1892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215 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74136" y="2267712"/>
            <a:ext cx="1892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스윕 최적점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141732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576" y="150876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펌프동력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51576" y="1728216"/>
            <a:ext cx="1892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 kW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51576" y="2267712"/>
            <a:ext cx="1892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결과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2788920"/>
            <a:ext cx="5074920" cy="24231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289864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암모니아가 기본안인 이유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4984" y="3200400"/>
            <a:ext cx="47823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가능한 후보 중 루프 동력이 가장 작다.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기화기 쉘 직경이 비교적 작아 장치 규모가 과도하게 커지지 않는다.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장거리 운반 문제까지 포함한 전체 설계 관점에서 가장 안정적인 해를 준다.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2788920"/>
            <a:ext cx="5074920" cy="24231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289864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남겨둘 리스크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4224" y="3200400"/>
            <a:ext cx="47823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안전성과 취급성은 탄화수소와 다른 별도 검토가 필요하다.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기준점에서는 LNG hot-end를 맞추기 위해 3,954.0 kW의 추가 warm-up 모델이 필요하다.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최종 설계에서는 성능 우위와 안전/운전 서술을 함께 가져가야 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성능은 암모니아가, 시스템 단순성은 추가 검토가 더 필요하다.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기본안은 성능 기준, 대안 유체는 확장 시나리오 기준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기화기 설계 - 열역학 해석과 핀치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hx_temperatur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548640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62356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분할 온도 프로파일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417320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MPa 초임계 메탄의 비열은 온도에 따라 크게 변한다.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단일 평균 비열이 아니라 구간 분할 엔탈피 기반 해석이 필요하다.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모델은 112~190 K, 190~205 K, 205~220 K, 220~283 K의 4구간으로 나누어 계산한다.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구간에서 최소 핀치 10 K를 만족하도록 설계한다.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86600" y="4572000"/>
            <a:ext cx="15087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4616" y="4663440"/>
            <a:ext cx="1252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기화 duty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14616" y="4882896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18,010.5 kW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14616" y="5248656"/>
            <a:ext cx="1252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LNG/NG 기준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23960" y="4572000"/>
            <a:ext cx="13258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976" y="4663440"/>
            <a:ext cx="1069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수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51976" y="4882896"/>
            <a:ext cx="1069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51976" y="5248656"/>
            <a:ext cx="1069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엔탈피 해석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378440" y="4572000"/>
            <a:ext cx="1051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06456" y="4663440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506456" y="4882896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K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506456" y="5248656"/>
            <a:ext cx="795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최소조건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A11의 핀치 문제 제기를 코드 기반 구간 해석으로 재현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기화기 설계 - 형상 스캔과 최종 제원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hx_geometry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548640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62356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 개수/형상 변화에 따른 설계 스캔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0" y="1417320"/>
            <a:ext cx="4572000" cy="19202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04304" y="152704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스캔에서 얻은 판단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04304" y="1828800"/>
            <a:ext cx="42793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 수를 늘리면 길이가 줄어들지만, 일정 지점 이후 효과가 둔화된다.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최소 길이만이 아니라 전체 장치 현실성으로 선택해야 한다.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3749040"/>
            <a:ext cx="1417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77456" y="384048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튜브 수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77456" y="4059936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77456" y="4480560"/>
            <a:ext cx="11612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결과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95360" y="3749040"/>
            <a:ext cx="1600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23376" y="3840480"/>
            <a:ext cx="1344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튜브 길이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723376" y="4059936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14.0 m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23376" y="4480560"/>
            <a:ext cx="1344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결과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424160" y="3749040"/>
            <a:ext cx="1005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52176" y="38404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쉘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552176" y="405993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0.792 m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552176" y="4480560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직경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858000" y="4846320"/>
            <a:ext cx="4572000" cy="7772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04304" y="495604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설계 요약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04304" y="5257800"/>
            <a:ext cx="4279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향류 1-pass 쉘-튜브 구조, LNG는 tube side, 2차 루프는 shell side로 두었다.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기화기 설계는 성능과 현실성의 절충 문제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기화기 설계 - 최종 설계 판단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429000" cy="19202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열역학적으로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1828800"/>
            <a:ext cx="31363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기화기 최소 핀치 10 K를 만족한다.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분할 모델이라 극저온 영역의 물성 변화를 더 잘 반영한다.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9202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527048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기계적으로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35424" y="1828800"/>
            <a:ext cx="31363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 수와 길이의 조합이 과도한 장치 길이 증가를 피한다.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쉘 직경도 실무적으로 과도하게 커지지 않는다.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429000" cy="192024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1527048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47304" y="1828800"/>
            <a:ext cx="31363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기화기 설계는 단순 계산이 아니라 현실성 필터를 거친 결과다.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A11의 공정한 단계 설명을 현재 코드로 다시 세운 슬라이드다.</a:t>
            </a:r>
            <a:endParaRPr lang="en-US" sz="1400" dirty="0"/>
          </a:p>
        </p:txBody>
      </p:sp>
      <p:pic>
        <p:nvPicPr>
          <p:cNvPr id="16" name="Image 0" descr="D:\학교\3학년 2학기\열시스템디자인\NewProject\output\figures\hx_temperatur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749040"/>
            <a:ext cx="2926080" cy="1828800"/>
          </a:xfrm>
          <a:prstGeom prst="rect">
            <a:avLst/>
          </a:prstGeom>
        </p:spPr>
      </p:pic>
      <p:pic>
        <p:nvPicPr>
          <p:cNvPr id="17" name="Image 1" descr="D:\학교\3학년 2학기\열시스템디자인\NewProject\output\figures\hx_geometry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749040"/>
            <a:ext cx="2926080" cy="1828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열역학 해석과 형상 스캔을 함께 보여주는 요약 페이지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배관 설계 - 설계 조건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pipeline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11655"/>
            <a:ext cx="5394960" cy="3371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623560"/>
            <a:ext cx="5394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배관 직경에 따른 압력강하와 열유입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141732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설계 거리는 10 km, 도전 조건은 35 km로 둔다.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배관은 압력강하와 열유입을 동시에 만족해야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직경이 커지면 압력강하는 줄지만 재료량과 시공 부담이 증가한다.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배관 설계는 기화기 설계와 별개의 최적화 문제가 된다.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40880" y="457200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8896" y="466344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거리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68896" y="488289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km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68896" y="52395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설계점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69680" y="457200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97696" y="466344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거리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97696" y="488289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km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97696" y="52395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조건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698480" y="4572000"/>
            <a:ext cx="822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26496" y="466344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826496" y="488289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826496" y="5239512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배관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배관 문제는 압력강하와 열유입을 동시에 관리해야 함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배관 설계 - 거리 민감도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pipeline_distance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54505"/>
            <a:ext cx="5577840" cy="3486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71500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증가에 따른 펌프동력과 열여유 변화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4173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10 km에서는 충분한 열여유가 남는다.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증가와 함께 열유입이 누적되며, 35 km에서는 아직 IDC 부하를 만족한다.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현재 모델은 부족한 hot-end 환수온도를 supplemental warm-up으로 메우는 부분까지 같이 계산한다.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코드 기준 최대 편도 성립거리는 약 103.8 km다.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35 km 조건은 현재 기본안에서 성립한다.</a:t>
            </a:r>
            <a:endParaRPr lang="en-US" sz="1580" dirty="0"/>
          </a:p>
        </p:txBody>
      </p:sp>
      <p:sp>
        <p:nvSpPr>
          <p:cNvPr id="10" name="Shape 7"/>
          <p:cNvSpPr/>
          <p:nvPr/>
        </p:nvSpPr>
        <p:spPr>
          <a:xfrm>
            <a:off x="7040880" y="457200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8896" y="466344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km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68896" y="4882896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68896" y="5239512"/>
            <a:ext cx="11612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기본안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86800" y="457200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466344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한계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814816" y="488289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103.8 km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14816" y="52395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편도 추정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241280" y="457200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69296" y="466344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km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369296" y="488289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369296" y="5239512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기본점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이송거리가 시스템의 진짜 경계조건임을 보여주는 슬라이드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배관 설계 - 공급온도 민감도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supply_temperature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48180"/>
            <a:ext cx="5577840" cy="309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715000"/>
            <a:ext cx="5577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공급온도 변화에 따른 유체 선택과 성립거리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417320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효율적인 지점은 215 K, R-717 (Ammonia) 기본안이다.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기본안만으로도 35 km 조건이 성립한다.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공급온도 스윕은 거리 복구보다 여유와 펌프동력 변화의 trade-off를 읽는 도구가 된다.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수준이 바뀌면 유체 선택과 최적 거리 여유도 함께 바뀐다.</a:t>
            </a:r>
            <a:endParaRPr lang="en-US" sz="1580" dirty="0"/>
          </a:p>
        </p:txBody>
      </p:sp>
      <p:sp>
        <p:nvSpPr>
          <p:cNvPr id="10" name="Shape 7"/>
          <p:cNvSpPr/>
          <p:nvPr/>
        </p:nvSpPr>
        <p:spPr>
          <a:xfrm>
            <a:off x="7040880" y="457200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8896" y="466344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68896" y="488289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215 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68896" y="52395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R-717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732520" y="457200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0536" y="4663440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km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860536" y="4882896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성립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60536" y="5239512"/>
            <a:ext cx="1435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R-717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652760" y="45720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0776" y="4663440"/>
            <a:ext cx="612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780776" y="4882896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kW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780776" y="5239512"/>
            <a:ext cx="612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수준이 곧 거리와 유체 선택을 바꾸는 손잡이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열역학/경제성 평가 - 소비동력 비교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system_powe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2431"/>
            <a:ext cx="5486400" cy="3918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62356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최소동력, 기준 시스템, LNG 시스템 비교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0" y="1417320"/>
            <a:ext cx="4572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최소동력은 1.22 MW, 기준 압축기 동력은 4.19 MW다.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시스템의 직접적 전력 소모는 루프 펌프 22.2 kW 수준이다.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결과는 LNG 냉열 활용이 압축기 동력을 거의 제거하는 구조임을 보여준다.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86600" y="45262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4616" y="461772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최소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14616" y="4837176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1.22 MW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14616" y="5193792"/>
            <a:ext cx="11612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하한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732520" y="452628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0536" y="4617720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시스템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860536" y="483717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4.19 MW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60536" y="5193792"/>
            <a:ext cx="1389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R-134a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607040" y="45262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35056" y="4617720"/>
            <a:ext cx="612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735056" y="4837176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 kW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735056" y="5193792"/>
            <a:ext cx="612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경계는 기준 압축기 대비 LNG 루프 펌프동력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열역학/경제성 평가 - 연간 효과와 회수기간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pic>
        <p:nvPicPr>
          <p:cNvPr id="7" name="Image 0" descr="D:\학교\3학년 2학기\열시스템디자인\NewProject\output\figures\annual_impac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06040"/>
            <a:ext cx="521208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66928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전력, 비용, 탄소 효과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2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0216" y="1645920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절감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00216" y="1865376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36,470.0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00216" y="2267712"/>
            <a:ext cx="2075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MWh/년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823960" y="1554480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51976" y="1645920"/>
            <a:ext cx="2167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절감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51976" y="1865376"/>
            <a:ext cx="216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3,831.2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51976" y="2267712"/>
            <a:ext cx="21671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백만원/년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278892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0216" y="2880360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 배출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0216" y="3099816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16,721.5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00216" y="3502152"/>
            <a:ext cx="2075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tCO2/년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823960" y="2788920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53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51976" y="2880360"/>
            <a:ext cx="2167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허용 CAPEX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951976" y="3099816"/>
            <a:ext cx="216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19,155.8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951976" y="3502152"/>
            <a:ext cx="21671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백만원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114800"/>
            <a:ext cx="5074920" cy="1051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18504" y="4224528"/>
            <a:ext cx="4782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범위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18504" y="4526280"/>
            <a:ext cx="47823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연간 효과는 기준 압축기 동력과 LNG 루프 펌프동력만 비교한 경계조건 결과다.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버전은 보조기기·유지관리·금융비용을 아직 제외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고려 사항 - 확장 과제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325880"/>
            <a:ext cx="3474720" cy="452628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35608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다뤄야 할 물리 문제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737360"/>
            <a:ext cx="318211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실제 LNG 조성 변화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IDC 냉수 배관 네트워크 상세 설계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장거리 조건에서의 제어 전략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코드 v1은 순수 메탄 가정과 단순화된 IDC 경계조건을 사용했다.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1325880"/>
            <a:ext cx="3474720" cy="452628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435608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km를 정말 목표로 할 경우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1737360"/>
            <a:ext cx="318211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기본안으로도 35 km가 이미 성립한다.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추가 거리 여유 확보는 별도 최적화 문제다.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열유입 여유와 펌프동력 증가는 계속 trade-off다.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배관/단열 재최적화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35 km는 이제 기준안의 성립 영역 안에 들어오지만, 그 이상 확장은 여전히 설계 과제다.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1325880"/>
            <a:ext cx="3364992" cy="452628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435608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말하면 좋은 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1737360"/>
            <a:ext cx="3072384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되는 조건도 설계 결론이다.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재구축은 계산 자동화와 민감도 분석까지 연결한다.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이후 보고서 수정이나 조건 변경에 바로 대응할 수 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A11의 ‘추가 고려 사항’ 파트를 현재 코드 기반으로 이어받음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55448"/>
            <a:ext cx="1417320" cy="73152"/>
          </a:xfrm>
          <a:prstGeom prst="rect">
            <a:avLst/>
          </a:prstGeom>
          <a:solidFill>
            <a:srgbClr val="2C6273"/>
          </a:solidFill>
          <a:ln w="12700">
            <a:solidFill>
              <a:srgbClr val="2C62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"/>
            <a:ext cx="12191695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29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3931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고려 사항 - 출처 체계와 재현성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38328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43560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구조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1737360"/>
            <a:ext cx="30906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config/base.toml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docs/sources.md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docs/assumptions.md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output/*.csv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output/figures/*.png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deliverables/*.md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deliverables/presentation_draft.pptx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38328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43560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발표의 장점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30906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수치의 출처 추적이 가능하다.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조건에서 결과를 다시 만들 수 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분석과 보고서 초안이 자동으로 이어진다.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200400" cy="448056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435608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전달할 메시지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1737360"/>
            <a:ext cx="290779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발표는 단순 복기가 아니라 설계 프로젝트의 구조적 업그레이드다.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이후 질의응답에서도 수치와 가정을 바로 추적할 수 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코드, 문서, 출처 로그가 하나의 저장소 안에서 연결됨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0" cy="2816352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960120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76472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960120"/>
            <a:ext cx="0" cy="2816352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36808" y="960120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6808" y="3776472"/>
            <a:ext cx="347472" cy="0"/>
          </a:xfrm>
          <a:prstGeom prst="line">
            <a:avLst/>
          </a:prstGeom>
          <a:noFill/>
          <a:ln w="12700">
            <a:solidFill>
              <a:srgbClr val="2C6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777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결론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51560" y="1645920"/>
            <a:ext cx="3246120" cy="297180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1755648"/>
            <a:ext cx="2953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97864" y="2057400"/>
            <a:ext cx="2953512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km 설계점에서는 LNG 냉열 기반 IDC 냉각 개념이 기술적으로 성립한다.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압축기 시스템 대비 전력 요구는 매우 크게 감소한다.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3246120" cy="297180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755648"/>
            <a:ext cx="2953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2057400"/>
            <a:ext cx="2953512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냉각유체 기본안은 R-717이며, 기화기 최소 핀치 10 K와 장치 현실성을 함께 만족한다.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성능과 설계성 모두에서 현재 가장 균형이 좋다.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1645920"/>
            <a:ext cx="3246120" cy="2971800"/>
          </a:xfrm>
          <a:prstGeom prst="rect">
            <a:avLst/>
          </a:prstGeom>
          <a:solidFill>
            <a:srgbClr val="EEF2F4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1755648"/>
            <a:ext cx="2953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2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55864" y="2057400"/>
            <a:ext cx="2953512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IDC 측 HX와 LNG hot-end 제약을 함께 풀면 35 km도 현재 기본안에서 성립한다.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이번 재구축의 메시지는 기존보다 완화된 실제 성립영역을 재계산했다는 데 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5074920"/>
            <a:ext cx="2560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71016" y="516636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71016" y="538581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km 성립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71016" y="5806440"/>
            <a:ext cx="23042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LNG 냉열 활용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69080" y="5074920"/>
            <a:ext cx="2560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97096" y="516636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경계조건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97096" y="538581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103.8 km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97096" y="5806440"/>
            <a:ext cx="23042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편도 한계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507492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5166360"/>
            <a:ext cx="3675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판단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23176" y="5385816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8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km 기본안 성립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23176" y="5806440"/>
            <a:ext cx="3675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설계 가능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64190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703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 스타일의 장문형 발표 흐름으로 재구성한 최종 장표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LNG 냉열 기반 IDC 냉각시스템 발표자료</dc:title>
  <dc:subject>LNG 냉열 기반 IDC 냉각시스템 장표</dc:subject>
  <dc:creator>OpenAI Codex</dc:creator>
  <cp:lastModifiedBy>OpenAI Codex</cp:lastModifiedBy>
  <cp:revision>1</cp:revision>
  <dcterms:created xsi:type="dcterms:W3CDTF">2026-03-20T13:47:25Z</dcterms:created>
  <dcterms:modified xsi:type="dcterms:W3CDTF">2026-03-20T13:47:25Z</dcterms:modified>
</cp:coreProperties>
</file>