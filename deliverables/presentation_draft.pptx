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3977640"/>
            <a:ext cx="1737360" cy="1737360"/>
          </a:xfrm>
          <a:prstGeom prst="ellipse">
            <a:avLst/>
          </a:prstGeom>
          <a:solidFill>
            <a:srgbClr val="D7A64A">
              <a:alpha val="30000"/>
            </a:srgbClr>
          </a:solidFill>
          <a:ln w="12700">
            <a:solidFill>
              <a:srgbClr val="D7A64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777240"/>
            <a:ext cx="63093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2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냉열 활용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6F2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IDC 냉각시스템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237744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8E1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분석, 경제성 평가, 출처 추적을 포함한 재현 가능한 코드 기반 설계 연구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4023360"/>
            <a:ext cx="21488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4023360"/>
            <a:ext cx="109728" cy="1325880"/>
          </a:xfrm>
          <a:prstGeom prst="rect">
            <a:avLst/>
          </a:prstGeom>
          <a:solidFill>
            <a:srgbClr val="5AA7A4"/>
          </a:solidFill>
          <a:ln w="12700">
            <a:solidFill>
              <a:srgbClr val="5AA7A4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4187952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냉방부하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" y="4407408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13.48 MW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868680" y="507492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모델링된 IDC 부하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971800" y="4023360"/>
            <a:ext cx="21488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971800" y="4023360"/>
            <a:ext cx="109728" cy="1325880"/>
          </a:xfrm>
          <a:prstGeom prst="rect">
            <a:avLst/>
          </a:prstGeom>
          <a:solidFill>
            <a:srgbClr val="D7A64A"/>
          </a:solidFill>
          <a:ln w="12700">
            <a:solidFill>
              <a:srgbClr val="D7A64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0" y="4187952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조건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0400" y="4407408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3200400" y="507492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편도 이송거리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303520" y="4023360"/>
            <a:ext cx="23317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03520" y="4023360"/>
            <a:ext cx="109728" cy="1325880"/>
          </a:xfrm>
          <a:prstGeom prst="rect">
            <a:avLst/>
          </a:prstGeom>
          <a:solidFill>
            <a:srgbClr val="2E7D5A"/>
          </a:solidFill>
          <a:ln w="12700">
            <a:solidFill>
              <a:srgbClr val="2E7D5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32120" y="4187952"/>
            <a:ext cx="20116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절감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532120" y="4407408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4.17 MW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5532120" y="5074920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압축기 대비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138160" y="1051560"/>
            <a:ext cx="3474720" cy="2487168"/>
          </a:xfrm>
          <a:prstGeom prst="roundRect">
            <a:avLst>
              <a:gd name="adj" fmla="val 1838"/>
            </a:avLst>
          </a:prstGeom>
          <a:solidFill>
            <a:srgbClr val="132B45"/>
          </a:solidFill>
          <a:ln w="12700">
            <a:solidFill>
              <a:srgbClr val="E9ED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39328" y="1197864"/>
            <a:ext cx="30723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재구축에서 달라진 점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321040" y="1472184"/>
            <a:ext cx="31089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스프레드시트가 아닌 코드 중심 재구축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출처와 가정을 명시적으로 기록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거리, 유체, 온도 민감도까지 분석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2920" y="6428232"/>
            <a:ext cx="11109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열시스템디자인 프로젝트 | slides_src/presentation_draft.js에서 생성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A7A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686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6F2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질문과 기준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1143000"/>
            <a:ext cx="3749040" cy="2487168"/>
          </a:xfrm>
          <a:prstGeom prst="roundRect">
            <a:avLst>
              <a:gd name="adj" fmla="val 1838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289304"/>
            <a:ext cx="334670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질문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1563624"/>
            <a:ext cx="3383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냉열로 대형 IDC의 기준 R-134a 냉방부하를 대체할 수 있는가?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기지와 부지 사이 장거리 이송 페널티를 견딜 수 있는가?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전력 절감이 지속될 때 경제적 가치는 어느 정도인가?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663440" y="1170432"/>
            <a:ext cx="192024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663440" y="1170432"/>
            <a:ext cx="109728" cy="1170432"/>
          </a:xfrm>
          <a:prstGeom prst="rect">
            <a:avLst/>
          </a:prstGeom>
          <a:solidFill>
            <a:srgbClr val="B55349"/>
          </a:solidFill>
          <a:ln w="12700">
            <a:solidFill>
              <a:srgbClr val="B55349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335024"/>
            <a:ext cx="1600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부하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92040" y="1554480"/>
            <a:ext cx="1600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13.48 MW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4892040" y="2066544"/>
            <a:ext cx="1600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IDC 냉방부하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812280" y="1170432"/>
            <a:ext cx="192024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812280" y="1170432"/>
            <a:ext cx="109728" cy="1170432"/>
          </a:xfrm>
          <a:prstGeom prst="rect">
            <a:avLst/>
          </a:prstGeom>
          <a:solidFill>
            <a:srgbClr val="D7A64A"/>
          </a:solidFill>
          <a:ln w="12700">
            <a:solidFill>
              <a:srgbClr val="D7A64A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40880" y="1335024"/>
            <a:ext cx="1600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조건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040880" y="1554480"/>
            <a:ext cx="1600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</a:t>
            </a:r>
            <a:endParaRPr lang="en-US" sz="2300" dirty="0"/>
          </a:p>
        </p:txBody>
      </p:sp>
      <p:sp>
        <p:nvSpPr>
          <p:cNvPr id="16" name="Text 14"/>
          <p:cNvSpPr/>
          <p:nvPr/>
        </p:nvSpPr>
        <p:spPr>
          <a:xfrm>
            <a:off x="7040880" y="2066544"/>
            <a:ext cx="1600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장거리 검토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8961120" y="1170432"/>
            <a:ext cx="192024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961120" y="1170432"/>
            <a:ext cx="109728" cy="1170432"/>
          </a:xfrm>
          <a:prstGeom prst="rect">
            <a:avLst/>
          </a:prstGeom>
          <a:solidFill>
            <a:srgbClr val="1C6E73"/>
          </a:solidFill>
          <a:ln w="12700">
            <a:solidFill>
              <a:srgbClr val="1C6E7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89720" y="1335024"/>
            <a:ext cx="1600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전력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89720" y="1554480"/>
            <a:ext cx="1600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4.19 MW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9189720" y="2066544"/>
            <a:ext cx="1600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R-134a 압축기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166360" y="3703320"/>
            <a:ext cx="5486400" cy="0"/>
          </a:xfrm>
          <a:prstGeom prst="line">
            <a:avLst/>
          </a:prstGeom>
          <a:noFill/>
          <a:ln w="12700">
            <a:solidFill>
              <a:srgbClr val="E9ED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39512" y="3364992"/>
            <a:ext cx="713232" cy="713232"/>
          </a:xfrm>
          <a:prstGeom prst="ellipse">
            <a:avLst/>
          </a:prstGeom>
          <a:solidFill>
            <a:srgbClr val="EDF4F6"/>
          </a:solidFill>
          <a:ln w="12700">
            <a:solidFill>
              <a:srgbClr val="5AA7A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10328" y="4187952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기지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873752" y="4443984"/>
            <a:ext cx="144475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112 K 메탄 유입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6291072" y="3493008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6E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7068312" y="3364992"/>
            <a:ext cx="713232" cy="713232"/>
          </a:xfrm>
          <a:prstGeom prst="ellipse">
            <a:avLst/>
          </a:prstGeom>
          <a:solidFill>
            <a:srgbClr val="F7F0DE"/>
          </a:solidFill>
          <a:ln w="12700">
            <a:solidFill>
              <a:srgbClr val="D7A6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39128" y="4187952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기화기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702552" y="4443984"/>
            <a:ext cx="144475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쉘-튜브 열교환기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8119872" y="3493008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6E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8897112" y="3364992"/>
            <a:ext cx="713232" cy="713232"/>
          </a:xfrm>
          <a:prstGeom prst="ellipse">
            <a:avLst/>
          </a:prstGeom>
          <a:solidFill>
            <a:srgbClr val="EDF4F6"/>
          </a:solidFill>
          <a:ln w="12700">
            <a:solidFill>
              <a:srgbClr val="5AA7A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67928" y="4187952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루프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8531352" y="4443984"/>
            <a:ext cx="144475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냉열 이송</a:t>
            </a:r>
            <a:endParaRPr lang="en-US" sz="820" dirty="0"/>
          </a:p>
        </p:txBody>
      </p:sp>
      <p:sp>
        <p:nvSpPr>
          <p:cNvPr id="34" name="Text 32"/>
          <p:cNvSpPr/>
          <p:nvPr/>
        </p:nvSpPr>
        <p:spPr>
          <a:xfrm>
            <a:off x="9948672" y="3493008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6E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0725912" y="3364992"/>
            <a:ext cx="713232" cy="713232"/>
          </a:xfrm>
          <a:prstGeom prst="ellipse">
            <a:avLst/>
          </a:prstGeom>
          <a:solidFill>
            <a:srgbClr val="F7F0DE"/>
          </a:solidFill>
          <a:ln w="12700">
            <a:solidFill>
              <a:srgbClr val="D7A6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396728" y="4187952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IDC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0360152" y="4443984"/>
            <a:ext cx="144475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11층 냉방부하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502920" y="6428232"/>
            <a:ext cx="11109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SRC-001, SRC-009, ASM-001 to ASM-011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A7A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개념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686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6F2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냉각 개념과 해석 구조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1188720"/>
            <a:ext cx="5257800" cy="4526280"/>
          </a:xfrm>
          <a:prstGeom prst="roundRect">
            <a:avLst>
              <a:gd name="adj" fmla="val 1010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</p:spPr>
      </p:sp>
      <p:pic>
        <p:nvPicPr>
          <p:cNvPr id="5" name="Image 0" descr="D:\학교\3학년 2학기\열시스템디자인\NewProject\output\figures\hx_temperature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763078"/>
            <a:ext cx="5111496" cy="319468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513832"/>
            <a:ext cx="5038344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분할 LNG 기화기 온도 프로파일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126480" y="1234440"/>
            <a:ext cx="5394960" cy="2487168"/>
          </a:xfrm>
          <a:prstGeom prst="roundRect">
            <a:avLst>
              <a:gd name="adj" fmla="val 1838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327648" y="1380744"/>
            <a:ext cx="49926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설계를 좌우한 선택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309360" y="1655064"/>
            <a:ext cx="50292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등비열 가정 대신 구간 분할 엔탈피 모델을 사용했다.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2차 루프 유체는 220 K 공급 조건의 암모니아다.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기화기 형상은 500본 x 14 m이며 최소 핀치는 10 K다.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355080" y="4160520"/>
            <a:ext cx="1554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355080" y="4160520"/>
            <a:ext cx="109728" cy="1143000"/>
          </a:xfrm>
          <a:prstGeom prst="rect">
            <a:avLst/>
          </a:prstGeom>
          <a:solidFill>
            <a:srgbClr val="1C6E73"/>
          </a:solidFill>
          <a:ln w="12700">
            <a:solidFill>
              <a:srgbClr val="1C6E73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83680" y="4325112"/>
            <a:ext cx="1234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유체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583680" y="4544568"/>
            <a:ext cx="1234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</a:t>
            </a:r>
            <a:endParaRPr lang="en-US" sz="2300" dirty="0"/>
          </a:p>
        </p:txBody>
      </p:sp>
      <p:sp>
        <p:nvSpPr>
          <p:cNvPr id="14" name="Text 11"/>
          <p:cNvSpPr/>
          <p:nvPr/>
        </p:nvSpPr>
        <p:spPr>
          <a:xfrm>
            <a:off x="6583680" y="502920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092440" y="4160520"/>
            <a:ext cx="1554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092440" y="4160520"/>
            <a:ext cx="109728" cy="1143000"/>
          </a:xfrm>
          <a:prstGeom prst="rect">
            <a:avLst/>
          </a:prstGeom>
          <a:solidFill>
            <a:srgbClr val="D7A64A"/>
          </a:solidFill>
          <a:ln w="12700">
            <a:solidFill>
              <a:srgbClr val="D7A64A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21040" y="4325112"/>
            <a:ext cx="1234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핀치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321040" y="4544568"/>
            <a:ext cx="1234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</a:t>
            </a:r>
            <a:endParaRPr lang="en-US" sz="2300" dirty="0"/>
          </a:p>
        </p:txBody>
      </p:sp>
      <p:sp>
        <p:nvSpPr>
          <p:cNvPr id="19" name="Text 16"/>
          <p:cNvSpPr/>
          <p:nvPr/>
        </p:nvSpPr>
        <p:spPr>
          <a:xfrm>
            <a:off x="8321040" y="502920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제약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829800" y="4160520"/>
            <a:ext cx="1554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9829800" y="4160520"/>
            <a:ext cx="109728" cy="1143000"/>
          </a:xfrm>
          <a:prstGeom prst="rect">
            <a:avLst/>
          </a:prstGeom>
          <a:solidFill>
            <a:srgbClr val="B55349"/>
          </a:solidFill>
          <a:ln w="12700">
            <a:solidFill>
              <a:srgbClr val="B55349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058400" y="4325112"/>
            <a:ext cx="1234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쉘 직경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0058400" y="4544568"/>
            <a:ext cx="1234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0.723 m</a:t>
            </a:r>
            <a:endParaRPr lang="en-US" sz="2300" dirty="0"/>
          </a:p>
        </p:txBody>
      </p:sp>
      <p:sp>
        <p:nvSpPr>
          <p:cNvPr id="24" name="Text 21"/>
          <p:cNvSpPr/>
          <p:nvPr/>
        </p:nvSpPr>
        <p:spPr>
          <a:xfrm>
            <a:off x="10058400" y="502920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크기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502920" y="6428232"/>
            <a:ext cx="11109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SRC-001, SRC-006, SRC-007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A7A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비교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686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6F2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사이클 대비 성능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23317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280160"/>
            <a:ext cx="109728" cy="1280160"/>
          </a:xfrm>
          <a:prstGeom prst="rect">
            <a:avLst/>
          </a:prstGeom>
          <a:solidFill>
            <a:srgbClr val="D7A64A"/>
          </a:solidFill>
          <a:ln w="12700">
            <a:solidFill>
              <a:srgbClr val="D7A64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444752"/>
            <a:ext cx="20116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1664208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1.22 MW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868680" y="2286000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카르노 하한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0080" y="2743200"/>
            <a:ext cx="23317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743200"/>
            <a:ext cx="109728" cy="1280160"/>
          </a:xfrm>
          <a:prstGeom prst="rect">
            <a:avLst/>
          </a:prstGeom>
          <a:solidFill>
            <a:srgbClr val="B55349"/>
          </a:solidFill>
          <a:ln w="12700">
            <a:solidFill>
              <a:srgbClr val="B55349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907792"/>
            <a:ext cx="20116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사이클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68680" y="3127248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4.19 MW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868680" y="3749040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R-134a 압축기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40080" y="4206240"/>
            <a:ext cx="23317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4206240"/>
            <a:ext cx="109728" cy="1280160"/>
          </a:xfrm>
          <a:prstGeom prst="rect">
            <a:avLst/>
          </a:prstGeom>
          <a:solidFill>
            <a:srgbClr val="2E7D5A"/>
          </a:solidFill>
          <a:ln w="12700">
            <a:solidFill>
              <a:srgbClr val="2E7D5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370832"/>
            <a:ext cx="20116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루프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68680" y="4590288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13.1 kW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868680" y="5212080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 펌프동력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91840" y="1234440"/>
            <a:ext cx="3657600" cy="443484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</p:spPr>
      </p:sp>
      <p:pic>
        <p:nvPicPr>
          <p:cNvPr id="20" name="Image 0" descr="D:\학교\3학년 2학기\열시스템디자인\NewProject\output\figures\system_power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64992" y="2106386"/>
            <a:ext cx="3511296" cy="2508069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3401568" y="5468112"/>
            <a:ext cx="3438144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모델링된 전력 요구 비교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7269480" y="1325880"/>
            <a:ext cx="3931920" cy="2487168"/>
          </a:xfrm>
          <a:prstGeom prst="roundRect">
            <a:avLst>
              <a:gd name="adj" fmla="val 1838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470648" y="1472184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포인트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7452360" y="1746504"/>
            <a:ext cx="3566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개념은 냉방 시스템의 전력 요구를 크게 낮춘다.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결과는 기준 사이클이 이미 이론 최소동력보다 높은 정상적인 수준이라는 점에서 의미가 있다.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이후의 핵심 질문은 순수 효율보다 이송 가능 거리와 구현 상충관계로 이동한다.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502920" y="6428232"/>
            <a:ext cx="11109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SRC-001, SRC-004, SRC-005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A7A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유체 스크리닝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686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6F2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선정은 감이 아니라 설계 결과다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234440"/>
            <a:ext cx="5486400" cy="4389120"/>
          </a:xfrm>
          <a:prstGeom prst="roundRect">
            <a:avLst>
              <a:gd name="adj" fmla="val 1042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</p:spPr>
      </p:sp>
      <p:pic>
        <p:nvPicPr>
          <p:cNvPr id="5" name="Image 0" descr="D:\학교\3학년 2학기\열시스템디자인\NewProject\output\figures\fluid_ran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668780"/>
            <a:ext cx="5340096" cy="3337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9808" y="5422392"/>
            <a:ext cx="5266944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스크리닝 점수와 요구 질량유량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492240" y="1325880"/>
            <a:ext cx="182880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492240" y="1325880"/>
            <a:ext cx="109728" cy="1170432"/>
          </a:xfrm>
          <a:prstGeom prst="rect">
            <a:avLst/>
          </a:prstGeom>
          <a:solidFill>
            <a:srgbClr val="1C6E73"/>
          </a:solidFill>
          <a:ln w="12700">
            <a:solidFill>
              <a:srgbClr val="1C6E73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720840" y="1490472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1위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720840" y="1709928"/>
            <a:ext cx="1508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</a:t>
            </a:r>
            <a:endParaRPr lang="en-US" sz="2300" dirty="0"/>
          </a:p>
        </p:txBody>
      </p:sp>
      <p:sp>
        <p:nvSpPr>
          <p:cNvPr id="11" name="Text 8"/>
          <p:cNvSpPr/>
          <p:nvPr/>
        </p:nvSpPr>
        <p:spPr>
          <a:xfrm>
            <a:off x="6720840" y="2221992"/>
            <a:ext cx="1508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13.1 kW 펌프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8503920" y="1325880"/>
            <a:ext cx="182880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503920" y="1325880"/>
            <a:ext cx="109728" cy="1170432"/>
          </a:xfrm>
          <a:prstGeom prst="rect">
            <a:avLst/>
          </a:prstGeom>
          <a:solidFill>
            <a:srgbClr val="D7A64A"/>
          </a:solidFill>
          <a:ln w="12700">
            <a:solidFill>
              <a:srgbClr val="D7A64A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732520" y="1490472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2위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732520" y="1709928"/>
            <a:ext cx="1508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R-290</a:t>
            </a:r>
            <a:endParaRPr lang="en-US" sz="2300" dirty="0"/>
          </a:p>
        </p:txBody>
      </p:sp>
      <p:sp>
        <p:nvSpPr>
          <p:cNvPr id="16" name="Text 13"/>
          <p:cNvSpPr/>
          <p:nvPr/>
        </p:nvSpPr>
        <p:spPr>
          <a:xfrm>
            <a:off x="8732520" y="2221992"/>
            <a:ext cx="1508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124.9 kW 펌프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10515600" y="1325880"/>
            <a:ext cx="1097280" cy="1170432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10515600" y="1325880"/>
            <a:ext cx="109728" cy="1170432"/>
          </a:xfrm>
          <a:prstGeom prst="rect">
            <a:avLst/>
          </a:prstGeom>
          <a:solidFill>
            <a:srgbClr val="B55349"/>
          </a:solidFill>
          <a:ln w="12700">
            <a:solidFill>
              <a:srgbClr val="B55349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744200" y="1490472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3위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744200" y="1709928"/>
            <a:ext cx="777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R-600a</a:t>
            </a:r>
            <a:endParaRPr lang="en-US" sz="2300" dirty="0"/>
          </a:p>
        </p:txBody>
      </p:sp>
      <p:sp>
        <p:nvSpPr>
          <p:cNvPr id="21" name="Text 18"/>
          <p:cNvSpPr/>
          <p:nvPr/>
        </p:nvSpPr>
        <p:spPr>
          <a:xfrm>
            <a:off x="10744200" y="2221992"/>
            <a:ext cx="777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134.5 kW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446520" y="2743200"/>
            <a:ext cx="5074920" cy="2487168"/>
          </a:xfrm>
          <a:prstGeom prst="roundRect">
            <a:avLst>
              <a:gd name="adj" fmla="val 1838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47688" y="2889504"/>
            <a:ext cx="4672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기본안에서 암모니아가 앞선 이유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6629400" y="3163824"/>
            <a:ext cx="4709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실현 가능한 후보 중 루프 펌프동력이 가장 낮다.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탄화수소 대안보다 기화기 규모가 더 작다.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안전성과 호환성 페널티를 코드 안에서 명시적으로 반영했다.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502920" y="6428232"/>
            <a:ext cx="11109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SRC-003, SRC-008, ASM-017 to ASM-019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A7A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 제약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686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6F2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제약은 이송거리다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234440"/>
            <a:ext cx="5486400" cy="4480560"/>
          </a:xfrm>
          <a:prstGeom prst="roundRect">
            <a:avLst>
              <a:gd name="adj" fmla="val 1020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</p:spPr>
      </p:sp>
      <p:pic>
        <p:nvPicPr>
          <p:cNvPr id="5" name="Image 0" descr="D:\학교\3학년 2학기\열시스템디자인\NewProject\output\figures\pipeline_distance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714500"/>
            <a:ext cx="5340096" cy="3337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9808" y="5513832"/>
            <a:ext cx="5266944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증가에 따른 펌프동력과 열유입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400800" y="1325880"/>
            <a:ext cx="4937760" cy="2487168"/>
          </a:xfrm>
          <a:prstGeom prst="roundRect">
            <a:avLst>
              <a:gd name="adj" fmla="val 1838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601968" y="1472184"/>
            <a:ext cx="45354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 판단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583680" y="1746504"/>
            <a:ext cx="45720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km는 충분한 열 여유와 함께 성립한다.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추정된 편도 한계거리는 약 29.6 km다.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km에서는 열유입이 사용 가능한 duty 여유를 넘어 기본안이 성립하지 않는다.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583680" y="4526280"/>
            <a:ext cx="15544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83680" y="4526280"/>
            <a:ext cx="109728" cy="1005840"/>
          </a:xfrm>
          <a:prstGeom prst="rect">
            <a:avLst/>
          </a:prstGeom>
          <a:solidFill>
            <a:srgbClr val="2E7D5A"/>
          </a:solidFill>
          <a:ln w="12700">
            <a:solidFill>
              <a:srgbClr val="2E7D5A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12280" y="4654296"/>
            <a:ext cx="1234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812280" y="4837176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812280" y="5385816"/>
            <a:ext cx="123444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성립</a:t>
            </a:r>
            <a:endParaRPr lang="en-US" sz="780" dirty="0"/>
          </a:p>
        </p:txBody>
      </p:sp>
      <p:sp>
        <p:nvSpPr>
          <p:cNvPr id="15" name="Shape 12"/>
          <p:cNvSpPr/>
          <p:nvPr/>
        </p:nvSpPr>
        <p:spPr>
          <a:xfrm>
            <a:off x="8321040" y="4526280"/>
            <a:ext cx="15544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321040" y="4526280"/>
            <a:ext cx="109728" cy="1005840"/>
          </a:xfrm>
          <a:prstGeom prst="rect">
            <a:avLst/>
          </a:prstGeom>
          <a:solidFill>
            <a:srgbClr val="D7A64A"/>
          </a:solidFill>
          <a:ln w="12700">
            <a:solidFill>
              <a:srgbClr val="D7A64A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549640" y="4654296"/>
            <a:ext cx="1234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549640" y="4837176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29.6 km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8549640" y="5385816"/>
            <a:ext cx="123444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추정값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10058400" y="4526280"/>
            <a:ext cx="15544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0058400" y="4526280"/>
            <a:ext cx="109728" cy="1005840"/>
          </a:xfrm>
          <a:prstGeom prst="rect">
            <a:avLst/>
          </a:prstGeom>
          <a:solidFill>
            <a:srgbClr val="B55349"/>
          </a:solidFill>
          <a:ln w="12700">
            <a:solidFill>
              <a:srgbClr val="B55349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287000" y="4654296"/>
            <a:ext cx="1234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도전조건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0287000" y="4837176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0287000" y="5385816"/>
            <a:ext cx="123444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불성립</a:t>
            </a:r>
            <a:endParaRPr lang="en-US" sz="780" dirty="0"/>
          </a:p>
        </p:txBody>
      </p:sp>
      <p:sp>
        <p:nvSpPr>
          <p:cNvPr id="25" name="Text 22"/>
          <p:cNvSpPr/>
          <p:nvPr/>
        </p:nvSpPr>
        <p:spPr>
          <a:xfrm>
            <a:off x="502920" y="6428232"/>
            <a:ext cx="11109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SRC-001, ASM-014 to ASM-016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A7A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민감도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686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6F2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공급온도를 올리면 거리는 늘어나지만 공짜는 아니다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234440"/>
            <a:ext cx="5486400" cy="4480560"/>
          </a:xfrm>
          <a:prstGeom prst="roundRect">
            <a:avLst>
              <a:gd name="adj" fmla="val 1020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</p:spPr>
      </p:sp>
      <p:pic>
        <p:nvPicPr>
          <p:cNvPr id="5" name="Image 0" descr="D:\학교\3학년 2학기\열시스템디자인\NewProject\output\figures\supply_temperature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99920"/>
            <a:ext cx="5340096" cy="29667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9808" y="5513832"/>
            <a:ext cx="5266944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공급온도 스윕 결과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400800" y="1325880"/>
            <a:ext cx="4937760" cy="2487168"/>
          </a:xfrm>
          <a:prstGeom prst="roundRect">
            <a:avLst>
              <a:gd name="adj" fmla="val 1838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601968" y="1472184"/>
            <a:ext cx="45354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상충관계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583680" y="1746504"/>
            <a:ext cx="45720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효율적인 지점은 여전히 220 K 암모니아 기본안이다.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230 K 수준으로 올리면 35 km 설계를 성립시킬 수 있다.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대신 이소부탄으로 바뀌고 펌프동력이 거의 10배 수준으로 커진다.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629400" y="4526280"/>
            <a:ext cx="164592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29400" y="4526280"/>
            <a:ext cx="109728" cy="987552"/>
          </a:xfrm>
          <a:prstGeom prst="rect">
            <a:avLst/>
          </a:prstGeom>
          <a:solidFill>
            <a:srgbClr val="1C6E73"/>
          </a:solidFill>
          <a:ln w="12700">
            <a:solidFill>
              <a:srgbClr val="1C6E73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0" y="4654296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최적점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858000" y="4837176"/>
            <a:ext cx="1325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220 K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858000" y="5367528"/>
            <a:ext cx="132588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</a:t>
            </a:r>
            <a:endParaRPr lang="en-US" sz="780" dirty="0"/>
          </a:p>
        </p:txBody>
      </p:sp>
      <p:sp>
        <p:nvSpPr>
          <p:cNvPr id="15" name="Shape 12"/>
          <p:cNvSpPr/>
          <p:nvPr/>
        </p:nvSpPr>
        <p:spPr>
          <a:xfrm>
            <a:off x="8503920" y="4526280"/>
            <a:ext cx="164592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503920" y="4526280"/>
            <a:ext cx="109728" cy="987552"/>
          </a:xfrm>
          <a:prstGeom prst="rect">
            <a:avLst/>
          </a:prstGeom>
          <a:solidFill>
            <a:srgbClr val="D7A64A"/>
          </a:solidFill>
          <a:ln w="12700">
            <a:solidFill>
              <a:srgbClr val="D7A64A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732520" y="4654296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 복구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732520" y="4837176"/>
            <a:ext cx="1325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230 K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8732520" y="5367528"/>
            <a:ext cx="132588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R-600a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10378440" y="4526280"/>
            <a:ext cx="109728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0378440" y="4526280"/>
            <a:ext cx="109728" cy="987552"/>
          </a:xfrm>
          <a:prstGeom prst="rect">
            <a:avLst/>
          </a:prstGeom>
          <a:solidFill>
            <a:srgbClr val="B55349"/>
          </a:solidFill>
          <a:ln w="12700">
            <a:solidFill>
              <a:srgbClr val="B55349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607040" y="4654296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0607040" y="4837176"/>
            <a:ext cx="777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130 kW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0607040" y="5367528"/>
            <a:ext cx="77724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 펌프</a:t>
            </a:r>
            <a:endParaRPr lang="en-US" sz="780" dirty="0"/>
          </a:p>
        </p:txBody>
      </p:sp>
      <p:sp>
        <p:nvSpPr>
          <p:cNvPr id="25" name="Text 22"/>
          <p:cNvSpPr/>
          <p:nvPr/>
        </p:nvSpPr>
        <p:spPr>
          <a:xfrm>
            <a:off x="502920" y="6428232"/>
            <a:ext cx="11109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ASM-028, ASM-029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A7A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경제성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686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6F2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효과를 보면 의사결정이 선명해진다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234440"/>
            <a:ext cx="5029200" cy="4480560"/>
          </a:xfrm>
          <a:prstGeom prst="roundRect">
            <a:avLst>
              <a:gd name="adj" fmla="val 1020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</p:spPr>
      </p:sp>
      <p:pic>
        <p:nvPicPr>
          <p:cNvPr id="5" name="Image 0" descr="D:\학교\3학년 2학기\열시스템디자인\NewProject\output\figures\annual_impact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569464"/>
            <a:ext cx="4882896" cy="16276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9808" y="5513832"/>
            <a:ext cx="4809744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전력, 비용, 탄소 비교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989320" y="1417320"/>
            <a:ext cx="256032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989320" y="1417320"/>
            <a:ext cx="109728" cy="1170432"/>
          </a:xfrm>
          <a:prstGeom prst="rect">
            <a:avLst/>
          </a:prstGeom>
          <a:solidFill>
            <a:srgbClr val="1C6E73"/>
          </a:solidFill>
          <a:ln w="12700">
            <a:solidFill>
              <a:srgbClr val="1C6E73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17920" y="1581912"/>
            <a:ext cx="2240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절감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217920" y="1801368"/>
            <a:ext cx="2240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36,549</a:t>
            </a:r>
            <a:endParaRPr lang="en-US" sz="2300" dirty="0"/>
          </a:p>
        </p:txBody>
      </p:sp>
      <p:sp>
        <p:nvSpPr>
          <p:cNvPr id="11" name="Text 8"/>
          <p:cNvSpPr/>
          <p:nvPr/>
        </p:nvSpPr>
        <p:spPr>
          <a:xfrm>
            <a:off x="6217920" y="2313432"/>
            <a:ext cx="2240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MWh/년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8778240" y="1417320"/>
            <a:ext cx="256032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778240" y="1417320"/>
            <a:ext cx="109728" cy="1170432"/>
          </a:xfrm>
          <a:prstGeom prst="rect">
            <a:avLst/>
          </a:prstGeom>
          <a:solidFill>
            <a:srgbClr val="2E7D5A"/>
          </a:solidFill>
          <a:ln w="12700">
            <a:solidFill>
              <a:srgbClr val="2E7D5A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006840" y="1581912"/>
            <a:ext cx="2240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절감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006840" y="1801368"/>
            <a:ext cx="2240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3,839.5</a:t>
            </a:r>
            <a:endParaRPr lang="en-US" sz="2300" dirty="0"/>
          </a:p>
        </p:txBody>
      </p:sp>
      <p:sp>
        <p:nvSpPr>
          <p:cNvPr id="16" name="Text 13"/>
          <p:cNvSpPr/>
          <p:nvPr/>
        </p:nvSpPr>
        <p:spPr>
          <a:xfrm>
            <a:off x="9006840" y="2313432"/>
            <a:ext cx="2240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백만원/년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989320" y="2880360"/>
            <a:ext cx="256032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989320" y="2880360"/>
            <a:ext cx="109728" cy="1170432"/>
          </a:xfrm>
          <a:prstGeom prst="rect">
            <a:avLst/>
          </a:prstGeom>
          <a:solidFill>
            <a:srgbClr val="D7A64A"/>
          </a:solidFill>
          <a:ln w="12700">
            <a:solidFill>
              <a:srgbClr val="D7A64A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17920" y="3044952"/>
            <a:ext cx="2240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회피 배출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217920" y="3264408"/>
            <a:ext cx="2240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16,757.7</a:t>
            </a:r>
            <a:endParaRPr lang="en-US" sz="2300" dirty="0"/>
          </a:p>
        </p:txBody>
      </p:sp>
      <p:sp>
        <p:nvSpPr>
          <p:cNvPr id="21" name="Text 18"/>
          <p:cNvSpPr/>
          <p:nvPr/>
        </p:nvSpPr>
        <p:spPr>
          <a:xfrm>
            <a:off x="6217920" y="3776472"/>
            <a:ext cx="2240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tCO2/년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8778240" y="2880360"/>
            <a:ext cx="256032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8778240" y="2880360"/>
            <a:ext cx="109728" cy="1170432"/>
          </a:xfrm>
          <a:prstGeom prst="rect">
            <a:avLst/>
          </a:prstGeom>
          <a:solidFill>
            <a:srgbClr val="B55349"/>
          </a:solidFill>
          <a:ln w="12700">
            <a:solidFill>
              <a:srgbClr val="B55349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006840" y="3044952"/>
            <a:ext cx="2240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허용 CAPEX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006840" y="3264408"/>
            <a:ext cx="2240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19,197.4</a:t>
            </a:r>
            <a:endParaRPr lang="en-US" sz="2300" dirty="0"/>
          </a:p>
        </p:txBody>
      </p:sp>
      <p:sp>
        <p:nvSpPr>
          <p:cNvPr id="26" name="Text 23"/>
          <p:cNvSpPr/>
          <p:nvPr/>
        </p:nvSpPr>
        <p:spPr>
          <a:xfrm>
            <a:off x="9006840" y="3776472"/>
            <a:ext cx="2240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백만원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989320" y="4434840"/>
            <a:ext cx="5349240" cy="868680"/>
          </a:xfrm>
          <a:prstGeom prst="roundRect">
            <a:avLst>
              <a:gd name="adj" fmla="val 4211"/>
            </a:avLst>
          </a:prstGeom>
          <a:solidFill>
            <a:srgbClr val="EDF4F6"/>
          </a:solidFill>
          <a:ln w="12700">
            <a:solidFill>
              <a:srgbClr val="5AA7A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217920" y="4654296"/>
            <a:ext cx="4892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2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경계조건 메모: 연간 지표는 기준 압축기 전력과 LNG 루프 펌프동력만 비교한 결과다.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02920" y="6428232"/>
            <a:ext cx="11109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SRC-013, SRC-014, ASM-030 to ASM-032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2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A7A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8686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6F2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제안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77240" y="1234440"/>
            <a:ext cx="3657600" cy="2487168"/>
          </a:xfrm>
          <a:prstGeom prst="roundRect">
            <a:avLst>
              <a:gd name="adj" fmla="val 1838"/>
            </a:avLst>
          </a:prstGeom>
          <a:solidFill>
            <a:srgbClr val="122A45"/>
          </a:solidFill>
          <a:ln w="12700">
            <a:solidFill>
              <a:srgbClr val="E9ED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8408" y="1380744"/>
            <a:ext cx="32552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확실히 말할 수 있는 점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60120" y="1655064"/>
            <a:ext cx="32918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냉열 개념은 10 km 설계점에서 기술적으로 성립한다.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기본안은 기준 압축기 대비 전력 요구가 매우 낮다.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단일 최적값보다 성립 거리와 불성립 거리의 경계다.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0" y="1234440"/>
            <a:ext cx="3200400" cy="2487168"/>
          </a:xfrm>
          <a:prstGeom prst="roundRect">
            <a:avLst>
              <a:gd name="adj" fmla="val 1838"/>
            </a:avLst>
          </a:prstGeom>
          <a:solidFill>
            <a:srgbClr val="122A45"/>
          </a:solidFill>
          <a:ln w="12700">
            <a:solidFill>
              <a:srgbClr val="E9ED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73168" y="1380744"/>
            <a:ext cx="27980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발표에서 강조할 메시지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0" y="1655064"/>
            <a:ext cx="28346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km는 된다.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km는 기본점에서 안 된다.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km는 다른 운전조건을 받아들일 때만 복구된다.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01000" y="1234440"/>
            <a:ext cx="3429000" cy="2487168"/>
          </a:xfrm>
          <a:prstGeom prst="roundRect">
            <a:avLst>
              <a:gd name="adj" fmla="val 1838"/>
            </a:avLst>
          </a:prstGeom>
          <a:solidFill>
            <a:srgbClr val="122A45"/>
          </a:solidFill>
          <a:ln w="12700">
            <a:solidFill>
              <a:srgbClr val="E9ED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02168" y="1380744"/>
            <a:ext cx="30266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정교화 단계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183880" y="1655064"/>
            <a:ext cx="30632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암모니아와 탄화수소 유체의 안전성 서술 보강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리스크와 제어 전략 추가</a:t>
            </a:r>
            <a:endParaRPr lang="en-US" sz="125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832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마크다운 보고서를 최종 제출 형식으로 변환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68680" y="5074920"/>
            <a:ext cx="274320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5074920"/>
            <a:ext cx="109728" cy="932688"/>
          </a:xfrm>
          <a:prstGeom prst="rect">
            <a:avLst/>
          </a:prstGeom>
          <a:solidFill>
            <a:srgbClr val="2E7D5A"/>
          </a:solidFill>
          <a:ln w="12700">
            <a:solidFill>
              <a:srgbClr val="2E7D5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5202936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 결론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97280" y="5385816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 가능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97280" y="5861304"/>
            <a:ext cx="242316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냉열 적용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3840480" y="5074920"/>
            <a:ext cx="274320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840480" y="5074920"/>
            <a:ext cx="109728" cy="932688"/>
          </a:xfrm>
          <a:prstGeom prst="rect">
            <a:avLst/>
          </a:prstGeom>
          <a:solidFill>
            <a:srgbClr val="D7A64A"/>
          </a:solidFill>
          <a:ln w="12700">
            <a:solidFill>
              <a:srgbClr val="D7A64A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69080" y="5202936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 통찰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069080" y="5385816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29.6 km 한계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069080" y="5861304"/>
            <a:ext cx="242316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편도 기준 추정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812280" y="5074920"/>
            <a:ext cx="365760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12700" dist="50800" dir="2700000">
              <a:srgbClr val="9AA5B4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812280" y="5074920"/>
            <a:ext cx="109728" cy="932688"/>
          </a:xfrm>
          <a:prstGeom prst="rect">
            <a:avLst/>
          </a:prstGeom>
          <a:solidFill>
            <a:srgbClr val="B55349"/>
          </a:solidFill>
          <a:ln w="12700">
            <a:solidFill>
              <a:srgbClr val="B55349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0" y="5202936"/>
            <a:ext cx="33375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의사결정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040880" y="5385816"/>
            <a:ext cx="3337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4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가능하지만 거리 민감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040880" y="5861304"/>
            <a:ext cx="333756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보편 해법은 아님</a:t>
            </a:r>
            <a:endParaRPr lang="en-US" sz="780" dirty="0"/>
          </a:p>
        </p:txBody>
      </p:sp>
      <p:sp>
        <p:nvSpPr>
          <p:cNvPr id="28" name="Text 26"/>
          <p:cNvSpPr/>
          <p:nvPr/>
        </p:nvSpPr>
        <p:spPr>
          <a:xfrm>
            <a:off x="502920" y="6428232"/>
            <a:ext cx="11109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6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가능한 후속 작업을 위해 PptxGenJS 원본에서 생성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LNG 냉열 기반 IDC 설계 연구</dc:title>
  <dc:subject>LNG 냉열 기반 IDC 냉각시스템 설계 연구</dc:subject>
  <dc:creator>OpenAI Codex</dc:creator>
  <cp:lastModifiedBy>OpenAI Codex</cp:lastModifiedBy>
  <cp:revision>1</cp:revision>
  <dcterms:created xsi:type="dcterms:W3CDTF">2026-03-20T12:11:13Z</dcterms:created>
  <dcterms:modified xsi:type="dcterms:W3CDTF">2026-03-20T12:11:13Z</dcterms:modified>
</cp:coreProperties>
</file>