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3977640"/>
            <a:ext cx="1737360" cy="1737360"/>
          </a:xfrm>
          <a:prstGeom prst="ellipse">
            <a:avLst/>
          </a:prstGeom>
          <a:solidFill>
            <a:srgbClr val="D7A64A">
              <a:alpha val="30000"/>
            </a:srgbClr>
          </a:solidFill>
          <a:ln w="12700">
            <a:solidFill>
              <a:srgbClr val="D7A64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777240"/>
            <a:ext cx="63093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2E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LNG Cold-Energy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6F2E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IDC Cooling System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237744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E1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Reproducible thermal-system design study with scenario, economics, and source traceability.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4023360"/>
            <a:ext cx="21488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4023360"/>
            <a:ext cx="109728" cy="1325880"/>
          </a:xfrm>
          <a:prstGeom prst="rect">
            <a:avLst/>
          </a:prstGeom>
          <a:solidFill>
            <a:srgbClr val="5AA7A4"/>
          </a:solidFill>
          <a:ln w="12700">
            <a:solidFill>
              <a:srgbClr val="5AA7A4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187952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Cooling load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" y="4407408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13.48 MW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868680" y="507492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Modeled IDC duty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971800" y="4023360"/>
            <a:ext cx="21488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971800" y="4023360"/>
            <a:ext cx="109728" cy="1325880"/>
          </a:xfrm>
          <a:prstGeom prst="rect">
            <a:avLst/>
          </a:prstGeom>
          <a:solidFill>
            <a:srgbClr val="D7A64A"/>
          </a:solidFill>
          <a:ln w="12700">
            <a:solidFill>
              <a:srgbClr val="D7A6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4187952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case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0" y="4407408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 km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3200400" y="507492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One-way transport distance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303520" y="4023360"/>
            <a:ext cx="23317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03520" y="4023360"/>
            <a:ext cx="109728" cy="1325880"/>
          </a:xfrm>
          <a:prstGeom prst="rect">
            <a:avLst/>
          </a:prstGeom>
          <a:solidFill>
            <a:srgbClr val="2E7D5A"/>
          </a:solidFill>
          <a:ln w="12700">
            <a:solidFill>
              <a:srgbClr val="2E7D5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32120" y="4187952"/>
            <a:ext cx="2011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 saving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532120" y="4407408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4.17 MW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5532120" y="5074920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compressor minus LNG loop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138160" y="1051560"/>
            <a:ext cx="3474720" cy="2487168"/>
          </a:xfrm>
          <a:prstGeom prst="roundRect">
            <a:avLst>
              <a:gd name="adj" fmla="val 1838"/>
            </a:avLst>
          </a:prstGeom>
          <a:solidFill>
            <a:srgbClr val="132B45"/>
          </a:solidFill>
          <a:ln w="12700">
            <a:solidFill>
              <a:srgbClr val="E9ED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39328" y="1197864"/>
            <a:ext cx="30723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changed from the old project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321040" y="1472184"/>
            <a:ext cx="31089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code reproduction instead of spreadsheet-only work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Explicit source and assumption registry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Distance, fluid, and temperature sensitivity studies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6428232"/>
            <a:ext cx="11109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Course project | Generated from deliverables/slides_src/presentation_draft.js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A7A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FRAME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686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6F2E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Design Question and Basis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4360" y="1143000"/>
            <a:ext cx="3749040" cy="2487168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289304"/>
            <a:ext cx="334670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Design question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1563624"/>
            <a:ext cx="3383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LNG cold energy replace the reference R-134a cooling load for a large IDC?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the concept survive the transport-distance penalty between the LNG terminal and the site?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is the economic value if the modeled cooling power reduction is sustained year-round?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663440" y="1170432"/>
            <a:ext cx="192024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63440" y="1170432"/>
            <a:ext cx="109728" cy="1170432"/>
          </a:xfrm>
          <a:prstGeom prst="rect">
            <a:avLst/>
          </a:prstGeom>
          <a:solidFill>
            <a:srgbClr val="B55349"/>
          </a:solidFill>
          <a:ln w="12700">
            <a:solidFill>
              <a:srgbClr val="B55349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335024"/>
            <a:ext cx="1600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Modeled load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92040" y="1554480"/>
            <a:ext cx="1600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13.48 MW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4892040" y="2066544"/>
            <a:ext cx="1600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IDC cooling duty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812280" y="1170432"/>
            <a:ext cx="192024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812280" y="1170432"/>
            <a:ext cx="109728" cy="1170432"/>
          </a:xfrm>
          <a:prstGeom prst="rect">
            <a:avLst/>
          </a:prstGeom>
          <a:solidFill>
            <a:srgbClr val="D7A64A"/>
          </a:solidFill>
          <a:ln w="12700">
            <a:solidFill>
              <a:srgbClr val="D7A64A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0" y="1335024"/>
            <a:ext cx="1600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Challenge case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040880" y="1554480"/>
            <a:ext cx="1600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35 km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7040880" y="2066544"/>
            <a:ext cx="1600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Long-distance test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8961120" y="1170432"/>
            <a:ext cx="192024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0" y="1170432"/>
            <a:ext cx="109728" cy="1170432"/>
          </a:xfrm>
          <a:prstGeom prst="rect">
            <a:avLst/>
          </a:prstGeom>
          <a:solidFill>
            <a:srgbClr val="1C6E73"/>
          </a:solidFill>
          <a:ln w="12700">
            <a:solidFill>
              <a:srgbClr val="1C6E7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9720" y="1335024"/>
            <a:ext cx="1600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power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89720" y="1554480"/>
            <a:ext cx="1600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4.19 MW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9189720" y="2066544"/>
            <a:ext cx="1600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R-134a compressor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166360" y="3703320"/>
            <a:ext cx="5486400" cy="0"/>
          </a:xfrm>
          <a:prstGeom prst="line">
            <a:avLst/>
          </a:prstGeom>
          <a:noFill/>
          <a:ln w="12700">
            <a:solidFill>
              <a:srgbClr val="E9ED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39512" y="3364992"/>
            <a:ext cx="713232" cy="713232"/>
          </a:xfrm>
          <a:prstGeom prst="ellipse">
            <a:avLst/>
          </a:prstGeom>
          <a:solidFill>
            <a:srgbClr val="EDF4F6"/>
          </a:solidFill>
          <a:ln w="12700">
            <a:solidFill>
              <a:srgbClr val="5AA7A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10328" y="4187952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LNG terminal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873752" y="4443984"/>
            <a:ext cx="144475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112 K methane stream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6291072" y="3493008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6E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7068312" y="3364992"/>
            <a:ext cx="713232" cy="713232"/>
          </a:xfrm>
          <a:prstGeom prst="ellipse">
            <a:avLst/>
          </a:prstGeom>
          <a:solidFill>
            <a:srgbClr val="F7F0DE"/>
          </a:solidFill>
          <a:ln w="12700">
            <a:solidFill>
              <a:srgbClr val="D7A6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39128" y="4187952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Vaporizer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702552" y="4443984"/>
            <a:ext cx="144475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Shell-and-tube exchanger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8119872" y="3493008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6E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8897112" y="3364992"/>
            <a:ext cx="713232" cy="713232"/>
          </a:xfrm>
          <a:prstGeom prst="ellipse">
            <a:avLst/>
          </a:prstGeom>
          <a:solidFill>
            <a:srgbClr val="EDF4F6"/>
          </a:solidFill>
          <a:ln w="12700">
            <a:solidFill>
              <a:srgbClr val="5AA7A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67928" y="4187952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Secondary loop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531352" y="4443984"/>
            <a:ext cx="144475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Coolant transport</a:t>
            </a:r>
            <a:endParaRPr lang="en-US" sz="820" dirty="0"/>
          </a:p>
        </p:txBody>
      </p:sp>
      <p:sp>
        <p:nvSpPr>
          <p:cNvPr id="34" name="Text 32"/>
          <p:cNvSpPr/>
          <p:nvPr/>
        </p:nvSpPr>
        <p:spPr>
          <a:xfrm>
            <a:off x="9948672" y="3493008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6E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0725912" y="3364992"/>
            <a:ext cx="713232" cy="713232"/>
          </a:xfrm>
          <a:prstGeom prst="ellipse">
            <a:avLst/>
          </a:prstGeom>
          <a:solidFill>
            <a:srgbClr val="F7F0DE"/>
          </a:solidFill>
          <a:ln w="12700">
            <a:solidFill>
              <a:srgbClr val="D7A6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396728" y="4187952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IDC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0360152" y="4443984"/>
            <a:ext cx="144475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11-floor cooling load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502920" y="6428232"/>
            <a:ext cx="11109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SRC-001, SRC-009, ASM-001 to ASM-011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A7A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 CONCEPT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686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6F2E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the LNG Cooling Concept Works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4360" y="1188720"/>
            <a:ext cx="5257800" cy="4526280"/>
          </a:xfrm>
          <a:prstGeom prst="roundRect">
            <a:avLst>
              <a:gd name="adj" fmla="val 101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</p:spPr>
      </p:sp>
      <p:pic>
        <p:nvPicPr>
          <p:cNvPr id="5" name="Image 0" descr="D:\학교\3학년 2학기\열시스템디자인\NewProject\output\figures\hx_temperatur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763078"/>
            <a:ext cx="5111496" cy="319468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513832"/>
            <a:ext cx="5038344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Segmented LNG vaporizer temperature profile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126480" y="1234440"/>
            <a:ext cx="5394960" cy="2487168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27648" y="1380744"/>
            <a:ext cx="49926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Design choices that matter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309360" y="1655064"/>
            <a:ext cx="50292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Segmented enthalpy model replaces a single constant-cp approximation.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Base-case secondary-loop fluid is ammonia at 220 K supply level.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selected vaporizer geometry is 500 tubes x 14 m with a 10 K minimum pinch.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55080" y="4160520"/>
            <a:ext cx="1554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355080" y="4160520"/>
            <a:ext cx="109728" cy="1143000"/>
          </a:xfrm>
          <a:prstGeom prst="rect">
            <a:avLst/>
          </a:prstGeom>
          <a:solidFill>
            <a:srgbClr val="1C6E73"/>
          </a:solidFill>
          <a:ln w="12700">
            <a:solidFill>
              <a:srgbClr val="1C6E73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83680" y="4325112"/>
            <a:ext cx="1234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Fluid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583680" y="4544568"/>
            <a:ext cx="1234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R-717</a:t>
            </a:r>
            <a:endParaRPr lang="en-US" sz="2300" dirty="0"/>
          </a:p>
        </p:txBody>
      </p:sp>
      <p:sp>
        <p:nvSpPr>
          <p:cNvPr id="14" name="Text 11"/>
          <p:cNvSpPr/>
          <p:nvPr/>
        </p:nvSpPr>
        <p:spPr>
          <a:xfrm>
            <a:off x="6583680" y="502920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Ammonia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092440" y="4160520"/>
            <a:ext cx="1554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092440" y="4160520"/>
            <a:ext cx="109728" cy="1143000"/>
          </a:xfrm>
          <a:prstGeom prst="rect">
            <a:avLst/>
          </a:prstGeom>
          <a:solidFill>
            <a:srgbClr val="D7A64A"/>
          </a:solidFill>
          <a:ln w="12700">
            <a:solidFill>
              <a:srgbClr val="D7A64A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21040" y="4325112"/>
            <a:ext cx="1234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Pinch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321040" y="4544568"/>
            <a:ext cx="1234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 K</a:t>
            </a:r>
            <a:endParaRPr lang="en-US" sz="2300" dirty="0"/>
          </a:p>
        </p:txBody>
      </p:sp>
      <p:sp>
        <p:nvSpPr>
          <p:cNvPr id="19" name="Text 16"/>
          <p:cNvSpPr/>
          <p:nvPr/>
        </p:nvSpPr>
        <p:spPr>
          <a:xfrm>
            <a:off x="8321040" y="502920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Constraint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829800" y="4160520"/>
            <a:ext cx="1554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9829800" y="4160520"/>
            <a:ext cx="109728" cy="1143000"/>
          </a:xfrm>
          <a:prstGeom prst="rect">
            <a:avLst/>
          </a:prstGeom>
          <a:solidFill>
            <a:srgbClr val="B55349"/>
          </a:solidFill>
          <a:ln w="12700">
            <a:solidFill>
              <a:srgbClr val="B55349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058400" y="4325112"/>
            <a:ext cx="1234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Shell OD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0058400" y="4544568"/>
            <a:ext cx="1234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0.723 m</a:t>
            </a:r>
            <a:endParaRPr lang="en-US" sz="2300" dirty="0"/>
          </a:p>
        </p:txBody>
      </p:sp>
      <p:sp>
        <p:nvSpPr>
          <p:cNvPr id="24" name="Text 21"/>
          <p:cNvSpPr/>
          <p:nvPr/>
        </p:nvSpPr>
        <p:spPr>
          <a:xfrm>
            <a:off x="10058400" y="502920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Selected size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502920" y="6428232"/>
            <a:ext cx="11109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SRC-001, SRC-006, SRC-007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A7A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PERFORMANCE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686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6F2E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Benchmark Against the Reference Cycle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280160"/>
            <a:ext cx="109728" cy="1280160"/>
          </a:xfrm>
          <a:prstGeom prst="rect">
            <a:avLst/>
          </a:prstGeom>
          <a:solidFill>
            <a:srgbClr val="D7A64A"/>
          </a:solidFill>
          <a:ln w="12700">
            <a:solidFill>
              <a:srgbClr val="D7A64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44752"/>
            <a:ext cx="2011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Theoretical minimum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1664208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1.22 MW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868680" y="2286000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Carnot lower bound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0080" y="2743200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743200"/>
            <a:ext cx="109728" cy="1280160"/>
          </a:xfrm>
          <a:prstGeom prst="rect">
            <a:avLst/>
          </a:prstGeom>
          <a:solidFill>
            <a:srgbClr val="B55349"/>
          </a:solidFill>
          <a:ln w="12700">
            <a:solidFill>
              <a:srgbClr val="B55349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907792"/>
            <a:ext cx="2011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cycle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68680" y="3127248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4.19 MW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868680" y="3749040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R-134a compressor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40080" y="4206240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206240"/>
            <a:ext cx="109728" cy="1280160"/>
          </a:xfrm>
          <a:prstGeom prst="rect">
            <a:avLst/>
          </a:prstGeom>
          <a:solidFill>
            <a:srgbClr val="2E7D5A"/>
          </a:solidFill>
          <a:ln w="12700">
            <a:solidFill>
              <a:srgbClr val="2E7D5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370832"/>
            <a:ext cx="2011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LNG loop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68680" y="4590288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13.1 kW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868680" y="5212080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Base-case pumping demand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91840" y="1234440"/>
            <a:ext cx="3657600" cy="443484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</p:spPr>
      </p:sp>
      <p:pic>
        <p:nvPicPr>
          <p:cNvPr id="20" name="Image 0" descr="D:\학교\3학년 2학기\열시스템디자인\NewProject\output\figures\system_power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64992" y="2106386"/>
            <a:ext cx="3511296" cy="2508069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3401568" y="5468112"/>
            <a:ext cx="3438144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Modeled electric-power comparison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7269480" y="1325880"/>
            <a:ext cx="3931920" cy="2487168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470648" y="1472184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Interpretation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7452360" y="1746504"/>
            <a:ext cx="3566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base concept dramatically reduces modeled cooling-system power draw.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result is strong because the benchmark already respects the theoretical lower bound ordering.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key question shifts from raw efficiency to transport feasibility and implementation trade-offs.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502920" y="6428232"/>
            <a:ext cx="11109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SRC-001, SRC-004, SRC-005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A7A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686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6F2E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Coolant Selection Is a Design Choice, Not a Guess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5486400" cy="4389120"/>
          </a:xfrm>
          <a:prstGeom prst="roundRect">
            <a:avLst>
              <a:gd name="adj" fmla="val 1042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</p:spPr>
      </p:sp>
      <p:pic>
        <p:nvPicPr>
          <p:cNvPr id="5" name="Image 0" descr="D:\학교\3학년 2학기\열시스템디자인\NewProject\output\figures\fluid_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668780"/>
            <a:ext cx="5340096" cy="3337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9808" y="5422392"/>
            <a:ext cx="5266944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Screening score versus required mass flow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492240" y="1325880"/>
            <a:ext cx="182880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92240" y="1325880"/>
            <a:ext cx="109728" cy="1170432"/>
          </a:xfrm>
          <a:prstGeom prst="rect">
            <a:avLst/>
          </a:prstGeom>
          <a:solidFill>
            <a:srgbClr val="1C6E73"/>
          </a:solidFill>
          <a:ln w="12700">
            <a:solidFill>
              <a:srgbClr val="1C6E73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720840" y="1490472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1st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720840" y="1709928"/>
            <a:ext cx="1508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R-717</a:t>
            </a:r>
            <a:endParaRPr lang="en-US" sz="2300" dirty="0"/>
          </a:p>
        </p:txBody>
      </p:sp>
      <p:sp>
        <p:nvSpPr>
          <p:cNvPr id="11" name="Text 8"/>
          <p:cNvSpPr/>
          <p:nvPr/>
        </p:nvSpPr>
        <p:spPr>
          <a:xfrm>
            <a:off x="6720840" y="2221992"/>
            <a:ext cx="1508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13.1 kW pump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8503920" y="1325880"/>
            <a:ext cx="182880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503920" y="1325880"/>
            <a:ext cx="109728" cy="1170432"/>
          </a:xfrm>
          <a:prstGeom prst="rect">
            <a:avLst/>
          </a:prstGeom>
          <a:solidFill>
            <a:srgbClr val="D7A64A"/>
          </a:solidFill>
          <a:ln w="12700">
            <a:solidFill>
              <a:srgbClr val="D7A64A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732520" y="1490472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2nd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732520" y="1709928"/>
            <a:ext cx="1508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R-290</a:t>
            </a:r>
            <a:endParaRPr lang="en-US" sz="2300" dirty="0"/>
          </a:p>
        </p:txBody>
      </p:sp>
      <p:sp>
        <p:nvSpPr>
          <p:cNvPr id="16" name="Text 13"/>
          <p:cNvSpPr/>
          <p:nvPr/>
        </p:nvSpPr>
        <p:spPr>
          <a:xfrm>
            <a:off x="8732520" y="2221992"/>
            <a:ext cx="1508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124.9 kW pump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10515600" y="1325880"/>
            <a:ext cx="1097280" cy="1170432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10515600" y="1325880"/>
            <a:ext cx="109728" cy="1170432"/>
          </a:xfrm>
          <a:prstGeom prst="rect">
            <a:avLst/>
          </a:prstGeom>
          <a:solidFill>
            <a:srgbClr val="B55349"/>
          </a:solidFill>
          <a:ln w="12700">
            <a:solidFill>
              <a:srgbClr val="B55349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744200" y="1490472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3rd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744200" y="1709928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R-600a</a:t>
            </a:r>
            <a:endParaRPr lang="en-US" sz="2300" dirty="0"/>
          </a:p>
        </p:txBody>
      </p:sp>
      <p:sp>
        <p:nvSpPr>
          <p:cNvPr id="21" name="Text 18"/>
          <p:cNvSpPr/>
          <p:nvPr/>
        </p:nvSpPr>
        <p:spPr>
          <a:xfrm>
            <a:off x="10744200" y="2221992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134.5 kW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446520" y="2743200"/>
            <a:ext cx="5074920" cy="2487168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47688" y="2889504"/>
            <a:ext cx="4672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ammonia wins in the base case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6629400" y="3163824"/>
            <a:ext cx="4709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Lowest loop pumping demand among feasible options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Compact vaporizer relative to the hydrocarbon alternatives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Transparent penalty handling for safety and compatibility trade-offs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502920" y="6428232"/>
            <a:ext cx="11109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SRC-003, SRC-008, ASM-017 to ASM-019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A7A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686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6F2E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Real Constraint Is Transport Distance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5486400" cy="4480560"/>
          </a:xfrm>
          <a:prstGeom prst="roundRect">
            <a:avLst>
              <a:gd name="adj" fmla="val 102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</p:spPr>
      </p:sp>
      <p:pic>
        <p:nvPicPr>
          <p:cNvPr id="5" name="Image 0" descr="D:\학교\3학년 2학기\열시스템디자인\NewProject\output\figures\pipeline_distanc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714500"/>
            <a:ext cx="5340096" cy="3337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9808" y="5513832"/>
            <a:ext cx="5266944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Distance sensitivity for pump power and heat gain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400800" y="1325880"/>
            <a:ext cx="4937760" cy="2487168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01968" y="1472184"/>
            <a:ext cx="45354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Base-case verdict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583680" y="1746504"/>
            <a:ext cx="45720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km is feasible with healthy thermal margin.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estimated one-way limit is about 29.6 km.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35 km case fails at the base design point because heat gain outruns the available duty buffer.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583680" y="4526280"/>
            <a:ext cx="15544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83680" y="4526280"/>
            <a:ext cx="109728" cy="1005840"/>
          </a:xfrm>
          <a:prstGeom prst="rect">
            <a:avLst/>
          </a:prstGeom>
          <a:solidFill>
            <a:srgbClr val="2E7D5A"/>
          </a:solidFill>
          <a:ln w="12700">
            <a:solidFill>
              <a:srgbClr val="2E7D5A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12280" y="4654296"/>
            <a:ext cx="1234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case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812280" y="4837176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 km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812280" y="5385816"/>
            <a:ext cx="123444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Feasible</a:t>
            </a:r>
            <a:endParaRPr lang="en-US" sz="780" dirty="0"/>
          </a:p>
        </p:txBody>
      </p:sp>
      <p:sp>
        <p:nvSpPr>
          <p:cNvPr id="15" name="Shape 12"/>
          <p:cNvSpPr/>
          <p:nvPr/>
        </p:nvSpPr>
        <p:spPr>
          <a:xfrm>
            <a:off x="8321040" y="4526280"/>
            <a:ext cx="15544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321040" y="4526280"/>
            <a:ext cx="109728" cy="1005840"/>
          </a:xfrm>
          <a:prstGeom prst="rect">
            <a:avLst/>
          </a:prstGeom>
          <a:solidFill>
            <a:srgbClr val="D7A64A"/>
          </a:solidFill>
          <a:ln w="12700">
            <a:solidFill>
              <a:srgbClr val="D7A64A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549640" y="4654296"/>
            <a:ext cx="1234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549640" y="4837176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29.6 km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549640" y="5385816"/>
            <a:ext cx="123444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10058400" y="4526280"/>
            <a:ext cx="15544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0058400" y="4526280"/>
            <a:ext cx="109728" cy="1005840"/>
          </a:xfrm>
          <a:prstGeom prst="rect">
            <a:avLst/>
          </a:prstGeom>
          <a:solidFill>
            <a:srgbClr val="B55349"/>
          </a:solidFill>
          <a:ln w="12700">
            <a:solidFill>
              <a:srgbClr val="B55349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287000" y="4654296"/>
            <a:ext cx="1234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Challenge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0287000" y="4837176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35 km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0287000" y="5385816"/>
            <a:ext cx="123444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Infeasible</a:t>
            </a:r>
            <a:endParaRPr lang="en-US" sz="780" dirty="0"/>
          </a:p>
        </p:txBody>
      </p:sp>
      <p:sp>
        <p:nvSpPr>
          <p:cNvPr id="25" name="Text 22"/>
          <p:cNvSpPr/>
          <p:nvPr/>
        </p:nvSpPr>
        <p:spPr>
          <a:xfrm>
            <a:off x="502920" y="6428232"/>
            <a:ext cx="11109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SRC-001, ASM-014 to ASM-016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A7A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SENSITIVITY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686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6F2E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Temperature Level Can Recover Distance, But Not for Free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5486400" cy="4480560"/>
          </a:xfrm>
          <a:prstGeom prst="roundRect">
            <a:avLst>
              <a:gd name="adj" fmla="val 102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</p:spPr>
      </p:sp>
      <p:pic>
        <p:nvPicPr>
          <p:cNvPr id="5" name="Image 0" descr="D:\학교\3학년 2학기\열시스템디자인\NewProject\output\figures\supply_temperatur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99920"/>
            <a:ext cx="5340096" cy="29667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9808" y="5513832"/>
            <a:ext cx="5266944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Supply-temperature sweep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400800" y="1325880"/>
            <a:ext cx="4937760" cy="2487168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01968" y="1472184"/>
            <a:ext cx="45354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Trade-off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583680" y="1746504"/>
            <a:ext cx="45720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most efficient point remains the 220 K ammonia design.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warmer supply level of 230 K can make the 35 km case feasible.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 recovery requires switching to isobutane and accepting a roughly tenfold pump-power increase.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629400" y="4526280"/>
            <a:ext cx="164592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29400" y="4526280"/>
            <a:ext cx="109728" cy="987552"/>
          </a:xfrm>
          <a:prstGeom prst="rect">
            <a:avLst/>
          </a:prstGeom>
          <a:solidFill>
            <a:srgbClr val="1C6E73"/>
          </a:solidFill>
          <a:ln w="12700">
            <a:solidFill>
              <a:srgbClr val="1C6E73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0" y="4654296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power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858000" y="4837176"/>
            <a:ext cx="1325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220 K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858000" y="5367528"/>
            <a:ext cx="132588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R-717</a:t>
            </a:r>
            <a:endParaRPr lang="en-US" sz="780" dirty="0"/>
          </a:p>
        </p:txBody>
      </p:sp>
      <p:sp>
        <p:nvSpPr>
          <p:cNvPr id="15" name="Shape 12"/>
          <p:cNvSpPr/>
          <p:nvPr/>
        </p:nvSpPr>
        <p:spPr>
          <a:xfrm>
            <a:off x="8503920" y="4526280"/>
            <a:ext cx="164592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503920" y="4526280"/>
            <a:ext cx="109728" cy="987552"/>
          </a:xfrm>
          <a:prstGeom prst="rect">
            <a:avLst/>
          </a:prstGeom>
          <a:solidFill>
            <a:srgbClr val="D7A64A"/>
          </a:solidFill>
          <a:ln w="12700">
            <a:solidFill>
              <a:srgbClr val="D7A64A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32520" y="4654296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 km fix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732520" y="4837176"/>
            <a:ext cx="1325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230 K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732520" y="5367528"/>
            <a:ext cx="132588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R-600a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10378440" y="4526280"/>
            <a:ext cx="109728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0378440" y="4526280"/>
            <a:ext cx="109728" cy="987552"/>
          </a:xfrm>
          <a:prstGeom prst="rect">
            <a:avLst/>
          </a:prstGeom>
          <a:solidFill>
            <a:srgbClr val="B55349"/>
          </a:solidFill>
          <a:ln w="12700">
            <a:solidFill>
              <a:srgbClr val="B55349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607040" y="4654296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0607040" y="4837176"/>
            <a:ext cx="777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130 kW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0607040" y="5367528"/>
            <a:ext cx="77724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Loop pump</a:t>
            </a:r>
            <a:endParaRPr lang="en-US" sz="780" dirty="0"/>
          </a:p>
        </p:txBody>
      </p:sp>
      <p:sp>
        <p:nvSpPr>
          <p:cNvPr id="25" name="Text 22"/>
          <p:cNvSpPr/>
          <p:nvPr/>
        </p:nvSpPr>
        <p:spPr>
          <a:xfrm>
            <a:off x="502920" y="6428232"/>
            <a:ext cx="11109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ASM-028, ASM-029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A7A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ECONOMICS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686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6F2E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Impact Makes the Design Decision Tangible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5029200" cy="4480560"/>
          </a:xfrm>
          <a:prstGeom prst="roundRect">
            <a:avLst>
              <a:gd name="adj" fmla="val 102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</p:spPr>
      </p:sp>
      <p:pic>
        <p:nvPicPr>
          <p:cNvPr id="5" name="Image 0" descr="D:\학교\3학년 2학기\열시스템디자인\NewProject\output\figures\annual_impact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569464"/>
            <a:ext cx="4882896" cy="16276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9808" y="5513832"/>
            <a:ext cx="4809744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Annualized energy, cost, and carbon comparison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989320" y="1417320"/>
            <a:ext cx="256032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989320" y="1417320"/>
            <a:ext cx="109728" cy="1170432"/>
          </a:xfrm>
          <a:prstGeom prst="rect">
            <a:avLst/>
          </a:prstGeom>
          <a:solidFill>
            <a:srgbClr val="1C6E73"/>
          </a:solidFill>
          <a:ln w="12700">
            <a:solidFill>
              <a:srgbClr val="1C6E73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0" y="1581912"/>
            <a:ext cx="2240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Electricity saving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217920" y="1801368"/>
            <a:ext cx="2240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36,549 MWh/yr</a:t>
            </a:r>
            <a:endParaRPr lang="en-US" sz="2300" dirty="0"/>
          </a:p>
        </p:txBody>
      </p:sp>
      <p:sp>
        <p:nvSpPr>
          <p:cNvPr id="11" name="Text 8"/>
          <p:cNvSpPr/>
          <p:nvPr/>
        </p:nvSpPr>
        <p:spPr>
          <a:xfrm>
            <a:off x="6217920" y="2313432"/>
            <a:ext cx="2240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Modeled boundary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8778240" y="1417320"/>
            <a:ext cx="256032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778240" y="1417320"/>
            <a:ext cx="109728" cy="1170432"/>
          </a:xfrm>
          <a:prstGeom prst="rect">
            <a:avLst/>
          </a:prstGeom>
          <a:solidFill>
            <a:srgbClr val="2E7D5A"/>
          </a:solidFill>
          <a:ln w="12700">
            <a:solidFill>
              <a:srgbClr val="2E7D5A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006840" y="1581912"/>
            <a:ext cx="2240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saving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006840" y="1801368"/>
            <a:ext cx="2240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3,839.5 M KRW/yr</a:t>
            </a:r>
            <a:endParaRPr lang="en-US" sz="2300" dirty="0"/>
          </a:p>
        </p:txBody>
      </p:sp>
      <p:sp>
        <p:nvSpPr>
          <p:cNvPr id="16" name="Text 13"/>
          <p:cNvSpPr/>
          <p:nvPr/>
        </p:nvSpPr>
        <p:spPr>
          <a:xfrm>
            <a:off x="9006840" y="2313432"/>
            <a:ext cx="2240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105.05 KRW/kWh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989320" y="2880360"/>
            <a:ext cx="256032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989320" y="2880360"/>
            <a:ext cx="109728" cy="1170432"/>
          </a:xfrm>
          <a:prstGeom prst="rect">
            <a:avLst/>
          </a:prstGeom>
          <a:solidFill>
            <a:srgbClr val="D7A64A"/>
          </a:solidFill>
          <a:ln w="12700">
            <a:solidFill>
              <a:srgbClr val="D7A64A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17920" y="3044952"/>
            <a:ext cx="2240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Avoided emissions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217920" y="3264408"/>
            <a:ext cx="2240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16,757.7 tCO2/yr</a:t>
            </a:r>
            <a:endParaRPr lang="en-US" sz="2300" dirty="0"/>
          </a:p>
        </p:txBody>
      </p:sp>
      <p:sp>
        <p:nvSpPr>
          <p:cNvPr id="21" name="Text 18"/>
          <p:cNvSpPr/>
          <p:nvPr/>
        </p:nvSpPr>
        <p:spPr>
          <a:xfrm>
            <a:off x="6217920" y="3776472"/>
            <a:ext cx="2240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Indirect emissions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8778240" y="2880360"/>
            <a:ext cx="256032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778240" y="2880360"/>
            <a:ext cx="109728" cy="1170432"/>
          </a:xfrm>
          <a:prstGeom prst="rect">
            <a:avLst/>
          </a:prstGeom>
          <a:solidFill>
            <a:srgbClr val="B55349"/>
          </a:solidFill>
          <a:ln w="12700">
            <a:solidFill>
              <a:srgbClr val="B55349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006840" y="3044952"/>
            <a:ext cx="2240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5-yr CAPEX room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006840" y="3264408"/>
            <a:ext cx="2240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19,197.4 M KRW</a:t>
            </a:r>
            <a:endParaRPr lang="en-US" sz="2300" dirty="0"/>
          </a:p>
        </p:txBody>
      </p:sp>
      <p:sp>
        <p:nvSpPr>
          <p:cNvPr id="26" name="Text 23"/>
          <p:cNvSpPr/>
          <p:nvPr/>
        </p:nvSpPr>
        <p:spPr>
          <a:xfrm>
            <a:off x="9006840" y="3776472"/>
            <a:ext cx="2240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 payback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989320" y="4434840"/>
            <a:ext cx="5349240" cy="868680"/>
          </a:xfrm>
          <a:prstGeom prst="roundRect">
            <a:avLst>
              <a:gd name="adj" fmla="val 4211"/>
            </a:avLst>
          </a:prstGeom>
          <a:solidFill>
            <a:srgbClr val="EDF4F6"/>
          </a:solidFill>
          <a:ln w="12700">
            <a:solidFill>
              <a:srgbClr val="5AA7A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217920" y="4654296"/>
            <a:ext cx="4892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Boundary note: these annual metrics compare the reference compressor power against the LNG loop pumping power only.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02920" y="6428232"/>
            <a:ext cx="11109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SRC-013, SRC-014, ASM-030 to ASM-032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2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A7A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686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6F2E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234440"/>
            <a:ext cx="3657600" cy="2487168"/>
          </a:xfrm>
          <a:prstGeom prst="roundRect">
            <a:avLst>
              <a:gd name="adj" fmla="val 1838"/>
            </a:avLst>
          </a:prstGeom>
          <a:solidFill>
            <a:srgbClr val="122A45"/>
          </a:solidFill>
          <a:ln w="12700">
            <a:solidFill>
              <a:srgbClr val="E9ED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8408" y="1380744"/>
            <a:ext cx="32552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we can say confidently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0120" y="1655064"/>
            <a:ext cx="32918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LNG cold-energy concept is technically feasible at the 10 km design point.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base-case design is far better than the reference compressor benchmark in modeled power demand.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real story is the boundary between feasible transport and infeasible transport, not just a single best number.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0" y="1234440"/>
            <a:ext cx="3200400" cy="2487168"/>
          </a:xfrm>
          <a:prstGeom prst="roundRect">
            <a:avLst>
              <a:gd name="adj" fmla="val 1838"/>
            </a:avLst>
          </a:prstGeom>
          <a:solidFill>
            <a:srgbClr val="122A45"/>
          </a:solidFill>
          <a:ln w="12700">
            <a:solidFill>
              <a:srgbClr val="E9ED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73168" y="1380744"/>
            <a:ext cx="27980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message in the presentation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1655064"/>
            <a:ext cx="28346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km works.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 km does not work at the base point.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 km can be recovered only by accepting a different operating trade-off.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01000" y="1234440"/>
            <a:ext cx="3429000" cy="2487168"/>
          </a:xfrm>
          <a:prstGeom prst="roundRect">
            <a:avLst>
              <a:gd name="adj" fmla="val 1838"/>
            </a:avLst>
          </a:prstGeom>
          <a:solidFill>
            <a:srgbClr val="122A45"/>
          </a:solidFill>
          <a:ln w="12700">
            <a:solidFill>
              <a:srgbClr val="E9ED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02168" y="1380744"/>
            <a:ext cx="30266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refinement after this deck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83880" y="1655064"/>
            <a:ext cx="30632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Tighten the fluid-safety narrative for ammonia versus hydrocarbons.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implementation risks and controls strategy.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Convert the markdown report into the final submission format.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68680" y="5074920"/>
            <a:ext cx="27432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5074920"/>
            <a:ext cx="109728" cy="932688"/>
          </a:xfrm>
          <a:prstGeom prst="rect">
            <a:avLst/>
          </a:prstGeom>
          <a:solidFill>
            <a:srgbClr val="2E7D5A"/>
          </a:solidFill>
          <a:ln w="12700">
            <a:solidFill>
              <a:srgbClr val="2E7D5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5202936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Base-case answer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97280" y="538581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 LNG cold energy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97280" y="5861304"/>
            <a:ext cx="242316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10 km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3840480" y="5074920"/>
            <a:ext cx="27432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840480" y="5074920"/>
            <a:ext cx="109728" cy="932688"/>
          </a:xfrm>
          <a:prstGeom prst="rect">
            <a:avLst/>
          </a:prstGeom>
          <a:solidFill>
            <a:srgbClr val="D7A64A"/>
          </a:solidFill>
          <a:ln w="12700">
            <a:solidFill>
              <a:srgbClr val="D7A64A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69080" y="5202936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Boundary insight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069080" y="538581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29.6 km limit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069080" y="5861304"/>
            <a:ext cx="242316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 one-way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812280" y="5074920"/>
            <a:ext cx="36576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812280" y="5074920"/>
            <a:ext cx="109728" cy="932688"/>
          </a:xfrm>
          <a:prstGeom prst="rect">
            <a:avLst/>
          </a:prstGeom>
          <a:solidFill>
            <a:srgbClr val="B55349"/>
          </a:solidFill>
          <a:ln w="12700">
            <a:solidFill>
              <a:srgbClr val="B55349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5202936"/>
            <a:ext cx="3337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posture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040880" y="5385816"/>
            <a:ext cx="3337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4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Feasible, but distance-sensitive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040880" y="5861304"/>
            <a:ext cx="333756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a universal win</a:t>
            </a:r>
            <a:endParaRPr lang="en-US" sz="780" dirty="0"/>
          </a:p>
        </p:txBody>
      </p:sp>
      <p:sp>
        <p:nvSpPr>
          <p:cNvPr id="28" name="Text 26"/>
          <p:cNvSpPr/>
          <p:nvPr/>
        </p:nvSpPr>
        <p:spPr>
          <a:xfrm>
            <a:off x="502920" y="6428232"/>
            <a:ext cx="11109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 with PptxGenJS source for editable follow-up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LNG IDC Design Study</dc:title>
  <dc:subject>LNG IDC cooling system design study</dc:subject>
  <dc:creator>OpenAI Codex</dc:creator>
  <cp:lastModifiedBy>OpenAI Codex</cp:lastModifiedBy>
  <cp:revision>1</cp:revision>
  <dcterms:created xsi:type="dcterms:W3CDTF">2026-03-20T12:00:45Z</dcterms:created>
  <dcterms:modified xsi:type="dcterms:W3CDTF">2026-03-20T12:00:45Z</dcterms:modified>
</cp:coreProperties>
</file>